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1.png"/><Relationship Id="rId5" Type="http://schemas.openxmlformats.org/officeDocument/2006/relationships/image" Target="../media/image-14-2.png"/><Relationship Id="rId6" Type="http://schemas.openxmlformats.org/officeDocument/2006/relationships/image" Target="../media/image-14-2.png"/><Relationship Id="rId7" Type="http://schemas.openxmlformats.org/officeDocument/2006/relationships/image" Target="../media/image-14-2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74320"/>
            <a:ext cx="217627" cy="217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119872" y="274320"/>
            <a:ext cx="211862" cy="2118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8631936" y="274320"/>
            <a:ext cx="200331" cy="20033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400032" y="274320"/>
            <a:ext cx="183034" cy="183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656064" y="274320"/>
            <a:ext cx="177268" cy="1772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9912096" y="274320"/>
            <a:ext cx="171503" cy="17150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168128" y="274320"/>
            <a:ext cx="165737" cy="1657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274320"/>
            <a:ext cx="159972" cy="1599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680192" y="274320"/>
            <a:ext cx="154206" cy="1542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36224" y="274320"/>
            <a:ext cx="148441" cy="1484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192256" y="274320"/>
            <a:ext cx="142675" cy="1426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48288" y="274320"/>
            <a:ext cx="136909" cy="1369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60352" y="274320"/>
            <a:ext cx="125378" cy="125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2216384" y="274320"/>
            <a:ext cx="119613" cy="1196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530352"/>
            <a:ext cx="211862" cy="2118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9872" y="530352"/>
            <a:ext cx="209473" cy="2094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375904" y="530352"/>
            <a:ext cx="204735" cy="2047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631936" y="530352"/>
            <a:ext cx="199395" cy="1993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887968" y="530352"/>
            <a:ext cx="193855" cy="1938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9400032" y="530352"/>
            <a:ext cx="182557" cy="18255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912096" y="530352"/>
            <a:ext cx="171144" cy="1711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530352"/>
            <a:ext cx="159684" cy="159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80192" y="530352"/>
            <a:ext cx="153945" cy="1539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192256" y="530352"/>
            <a:ext cx="142454" cy="14245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48288" y="530352"/>
            <a:ext cx="136704" cy="1367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704320" y="530352"/>
            <a:ext cx="130952" cy="1309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1960352" y="530352"/>
            <a:ext cx="125198" cy="1251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2216384" y="530352"/>
            <a:ext cx="119443" cy="119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7863840" y="786384"/>
            <a:ext cx="206096" cy="2060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119872" y="786384"/>
            <a:ext cx="204735" cy="2047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8375904" y="786384"/>
            <a:ext cx="201320" cy="2013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8631936" y="786384"/>
            <a:ext cx="196839" cy="19683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9144000" y="786384"/>
            <a:ext cx="186579" cy="18657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400032" y="786384"/>
            <a:ext cx="181163" cy="1811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9656064" y="786384"/>
            <a:ext cx="175653" cy="17565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9912096" y="786384"/>
            <a:ext cx="170083" cy="1700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168128" y="786384"/>
            <a:ext cx="164471" cy="1644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424160" y="786384"/>
            <a:ext cx="158830" cy="1588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680192" y="786384"/>
            <a:ext cx="153166" cy="1531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936224" y="786384"/>
            <a:ext cx="147486" cy="1474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11192256" y="786384"/>
            <a:ext cx="141793" cy="14179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11448288" y="786384"/>
            <a:ext cx="136090" cy="1360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1704320" y="786384"/>
            <a:ext cx="130379" cy="13037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1960352" y="786384"/>
            <a:ext cx="124660" cy="12466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2216384" y="786384"/>
            <a:ext cx="118937" cy="1189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7863840" y="1042416"/>
            <a:ext cx="200331" cy="20033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8631936" y="1042416"/>
            <a:ext cx="193166" cy="1931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8887968" y="1042416"/>
            <a:ext cx="188799" cy="1887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0" y="1042416"/>
            <a:ext cx="184009" cy="1840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400032" y="1042416"/>
            <a:ext cx="178951" cy="17895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656064" y="1042416"/>
            <a:ext cx="173718" cy="17371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9912096" y="1042416"/>
            <a:ext cx="168366" cy="1683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168128" y="1042416"/>
            <a:ext cx="162930" cy="1629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24160" y="1042416"/>
            <a:ext cx="157433" cy="1574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680192" y="1042416"/>
            <a:ext cx="151890" cy="1518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36224" y="1042416"/>
            <a:ext cx="146311" cy="146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192256" y="1042416"/>
            <a:ext cx="140705" cy="1407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48288" y="1042416"/>
            <a:ext cx="135077" cy="13507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704320" y="1042416"/>
            <a:ext cx="129431" cy="12943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960352" y="1042416"/>
            <a:ext cx="123771" cy="1237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12216384" y="1042416"/>
            <a:ext cx="118098" cy="1180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7863840" y="1298448"/>
            <a:ext cx="194565" cy="19456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8119872" y="1298448"/>
            <a:ext cx="193855" cy="1938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8375904" y="1298448"/>
            <a:ext cx="191843" cy="1918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8631936" y="1298448"/>
            <a:ext cx="188799" cy="1887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1298448"/>
            <a:ext cx="180710" cy="18071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9400032" y="1298448"/>
            <a:ext cx="176051" cy="17605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9656064" y="1298448"/>
            <a:ext cx="171144" cy="1711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9912096" y="1298448"/>
            <a:ext cx="166059" cy="1660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424160" y="1298448"/>
            <a:ext cx="155530" cy="1555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10680192" y="1298448"/>
            <a:ext cx="150143" cy="1501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36224" y="1298448"/>
            <a:ext cx="144698" cy="1446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11192256" y="1298448"/>
            <a:ext cx="139207" cy="1392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11704320" y="1298448"/>
            <a:ext cx="128122" cy="12812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11960352" y="1298448"/>
            <a:ext cx="122539" cy="12253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8119872" y="1554480"/>
            <a:ext cx="188229" cy="1882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8375904" y="1554480"/>
            <a:ext cx="186579" cy="18657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8631936" y="1554480"/>
            <a:ext cx="184009" cy="1840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8887968" y="1554480"/>
            <a:ext cx="180710" cy="18071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9400032" y="1554480"/>
            <a:ext cx="172597" cy="1725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9656064" y="1554480"/>
            <a:ext cx="168030" cy="1680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9912096" y="1554480"/>
            <a:ext cx="163235" cy="1632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0168128" y="1554480"/>
            <a:ext cx="158267" cy="1582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10680192" y="1554480"/>
            <a:ext cx="147962" cy="1479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10936224" y="1554480"/>
            <a:ext cx="142675" cy="1426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11192256" y="1554480"/>
            <a:ext cx="137322" cy="13732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11448288" y="1554480"/>
            <a:ext cx="131916" cy="1319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11704320" y="1554480"/>
            <a:ext cx="126466" cy="1264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11960352" y="1554480"/>
            <a:ext cx="120979" cy="12097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12216384" y="1554480"/>
            <a:ext cx="115461" cy="11546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7863840" y="1810512"/>
            <a:ext cx="183034" cy="183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8119872" y="1810512"/>
            <a:ext cx="182557" cy="18255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8375904" y="1810512"/>
            <a:ext cx="181163" cy="1811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8631936" y="1810512"/>
            <a:ext cx="178951" cy="17895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8887968" y="1810512"/>
            <a:ext cx="176051" cy="17605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9400032" y="1810512"/>
            <a:ext cx="168705" cy="1687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9912096" y="1810512"/>
            <a:ext cx="159972" cy="1599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24160" y="1810512"/>
            <a:ext cx="150390" cy="1503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0680192" y="1810512"/>
            <a:ext cx="145385" cy="14538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936224" y="1810512"/>
            <a:ext cx="140274" cy="14027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1192256" y="1810512"/>
            <a:ext cx="135077" cy="13507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1448288" y="1810512"/>
            <a:ext cx="129809" cy="1298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1704320" y="1810512"/>
            <a:ext cx="124482" cy="1244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960352" y="1810512"/>
            <a:ext cx="119105" cy="1191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2216384" y="1810512"/>
            <a:ext cx="113687" cy="11368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7863840" y="2066544"/>
            <a:ext cx="177268" cy="1772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631936" y="2066544"/>
            <a:ext cx="173718" cy="17371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887968" y="2066544"/>
            <a:ext cx="171144" cy="1711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144000" y="2066544"/>
            <a:ext cx="168030" cy="1680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400032" y="2066544"/>
            <a:ext cx="164471" cy="1644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656064" y="2066544"/>
            <a:ext cx="160551" cy="16055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912096" y="2066544"/>
            <a:ext cx="156339" cy="15633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168128" y="2066544"/>
            <a:ext cx="151890" cy="1518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424160" y="2066544"/>
            <a:ext cx="147250" cy="14725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680192" y="2066544"/>
            <a:ext cx="142454" cy="14245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936224" y="2066544"/>
            <a:ext cx="137530" cy="1375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192256" y="2066544"/>
            <a:ext cx="132500" cy="1325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448288" y="2066544"/>
            <a:ext cx="127382" cy="127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704320" y="2066544"/>
            <a:ext cx="122190" cy="1221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2216384" y="2066544"/>
            <a:ext cx="111629" cy="1116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7863840" y="2322576"/>
            <a:ext cx="171503" cy="17150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8119872" y="2322576"/>
            <a:ext cx="171144" cy="1711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8375904" y="2322576"/>
            <a:ext cx="170083" cy="1700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8631936" y="2322576"/>
            <a:ext cx="168366" cy="1683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6" name="Shape 124"/>
          <p:cNvSpPr/>
          <p:nvPr/>
        </p:nvSpPr>
        <p:spPr>
          <a:xfrm>
            <a:off x="8887968" y="2322576"/>
            <a:ext cx="166059" cy="1660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144000" y="2322576"/>
            <a:ext cx="163235" cy="1632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8" name="Shape 126"/>
          <p:cNvSpPr/>
          <p:nvPr/>
        </p:nvSpPr>
        <p:spPr>
          <a:xfrm>
            <a:off x="9400032" y="2322576"/>
            <a:ext cx="159972" cy="1599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9" name="Shape 127"/>
          <p:cNvSpPr/>
          <p:nvPr/>
        </p:nvSpPr>
        <p:spPr>
          <a:xfrm>
            <a:off x="9656064" y="2322576"/>
            <a:ext cx="156339" cy="15633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9912096" y="2322576"/>
            <a:ext cx="152397" cy="1523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1" name="Shape 129"/>
          <p:cNvSpPr/>
          <p:nvPr/>
        </p:nvSpPr>
        <p:spPr>
          <a:xfrm>
            <a:off x="10424160" y="2322576"/>
            <a:ext cx="143792" cy="14379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680192" y="2322576"/>
            <a:ext cx="139207" cy="1392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1704320" y="2322576"/>
            <a:ext cx="119613" cy="1196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2216384" y="2322576"/>
            <a:ext cx="109302" cy="10930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5" name="Shape 133"/>
          <p:cNvSpPr/>
          <p:nvPr/>
        </p:nvSpPr>
        <p:spPr>
          <a:xfrm>
            <a:off x="7863840" y="2578608"/>
            <a:ext cx="165737" cy="1657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8119872" y="2578608"/>
            <a:ext cx="165418" cy="16541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7" name="Shape 135"/>
          <p:cNvSpPr/>
          <p:nvPr/>
        </p:nvSpPr>
        <p:spPr>
          <a:xfrm>
            <a:off x="8887968" y="2578608"/>
            <a:ext cx="160843" cy="1608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8" name="Shape 136"/>
          <p:cNvSpPr/>
          <p:nvPr/>
        </p:nvSpPr>
        <p:spPr>
          <a:xfrm>
            <a:off x="9144000" y="2578608"/>
            <a:ext cx="158267" cy="1582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400032" y="2578608"/>
            <a:ext cx="155263" cy="1552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0" name="Shape 138"/>
          <p:cNvSpPr/>
          <p:nvPr/>
        </p:nvSpPr>
        <p:spPr>
          <a:xfrm>
            <a:off x="9656064" y="2578608"/>
            <a:ext cx="151890" cy="1518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1" name="Shape 139"/>
          <p:cNvSpPr/>
          <p:nvPr/>
        </p:nvSpPr>
        <p:spPr>
          <a:xfrm>
            <a:off x="9912096" y="2578608"/>
            <a:ext cx="148201" cy="1482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0168128" y="2578608"/>
            <a:ext cx="144244" cy="1442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424160" y="2578608"/>
            <a:ext cx="140060" cy="14006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680192" y="2578608"/>
            <a:ext cx="135683" cy="1356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5" name="Shape 143"/>
          <p:cNvSpPr/>
          <p:nvPr/>
        </p:nvSpPr>
        <p:spPr>
          <a:xfrm>
            <a:off x="11192256" y="2578608"/>
            <a:ext cx="126466" cy="1264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6" name="Shape 144"/>
          <p:cNvSpPr/>
          <p:nvPr/>
        </p:nvSpPr>
        <p:spPr>
          <a:xfrm>
            <a:off x="11448288" y="2578608"/>
            <a:ext cx="121669" cy="1216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1960352" y="2578608"/>
            <a:ext cx="111786" cy="1117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8" name="Shape 146"/>
          <p:cNvSpPr/>
          <p:nvPr/>
        </p:nvSpPr>
        <p:spPr>
          <a:xfrm>
            <a:off x="8119872" y="2834640"/>
            <a:ext cx="159684" cy="159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9" name="Shape 147"/>
          <p:cNvSpPr/>
          <p:nvPr/>
        </p:nvSpPr>
        <p:spPr>
          <a:xfrm>
            <a:off x="8375904" y="2834640"/>
            <a:ext cx="158830" cy="1588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0" name="Shape 148"/>
          <p:cNvSpPr/>
          <p:nvPr/>
        </p:nvSpPr>
        <p:spPr>
          <a:xfrm>
            <a:off x="8631936" y="2834640"/>
            <a:ext cx="157433" cy="1574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1" name="Shape 149"/>
          <p:cNvSpPr/>
          <p:nvPr/>
        </p:nvSpPr>
        <p:spPr>
          <a:xfrm>
            <a:off x="8887968" y="2834640"/>
            <a:ext cx="155530" cy="1555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2" name="Shape 150"/>
          <p:cNvSpPr/>
          <p:nvPr/>
        </p:nvSpPr>
        <p:spPr>
          <a:xfrm>
            <a:off x="9144000" y="2834640"/>
            <a:ext cx="153166" cy="1531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3" name="Shape 151"/>
          <p:cNvSpPr/>
          <p:nvPr/>
        </p:nvSpPr>
        <p:spPr>
          <a:xfrm>
            <a:off x="9656064" y="2834640"/>
            <a:ext cx="147250" cy="14725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4" name="Shape 152"/>
          <p:cNvSpPr/>
          <p:nvPr/>
        </p:nvSpPr>
        <p:spPr>
          <a:xfrm>
            <a:off x="9912096" y="2834640"/>
            <a:ext cx="143792" cy="14379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5" name="Shape 153"/>
          <p:cNvSpPr/>
          <p:nvPr/>
        </p:nvSpPr>
        <p:spPr>
          <a:xfrm>
            <a:off x="10168128" y="2834640"/>
            <a:ext cx="140060" cy="14006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6" name="Shape 154"/>
          <p:cNvSpPr/>
          <p:nvPr/>
        </p:nvSpPr>
        <p:spPr>
          <a:xfrm>
            <a:off x="10424160" y="2834640"/>
            <a:ext cx="136090" cy="1360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7" name="Shape 155"/>
          <p:cNvSpPr/>
          <p:nvPr/>
        </p:nvSpPr>
        <p:spPr>
          <a:xfrm>
            <a:off x="10680192" y="2834640"/>
            <a:ext cx="131916" cy="1319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8" name="Shape 156"/>
          <p:cNvSpPr/>
          <p:nvPr/>
        </p:nvSpPr>
        <p:spPr>
          <a:xfrm>
            <a:off x="10936224" y="2834640"/>
            <a:ext cx="127566" cy="1275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9" name="Shape 157"/>
          <p:cNvSpPr/>
          <p:nvPr/>
        </p:nvSpPr>
        <p:spPr>
          <a:xfrm>
            <a:off x="11192256" y="2834640"/>
            <a:ext cx="123065" cy="12306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0" name="Shape 158"/>
          <p:cNvSpPr/>
          <p:nvPr/>
        </p:nvSpPr>
        <p:spPr>
          <a:xfrm>
            <a:off x="11448288" y="2834640"/>
            <a:ext cx="118433" cy="1184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1" name="Shape 159"/>
          <p:cNvSpPr/>
          <p:nvPr/>
        </p:nvSpPr>
        <p:spPr>
          <a:xfrm>
            <a:off x="11960352" y="2834640"/>
            <a:ext cx="108843" cy="1088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2216384" y="2834640"/>
            <a:ext cx="103913" cy="10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3" name="Shape 161"/>
          <p:cNvSpPr/>
          <p:nvPr/>
        </p:nvSpPr>
        <p:spPr>
          <a:xfrm>
            <a:off x="7863840" y="3090672"/>
            <a:ext cx="154206" cy="1542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119872" y="3090672"/>
            <a:ext cx="153945" cy="1539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75904" y="3090672"/>
            <a:ext cx="153166" cy="1531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631936" y="3090672"/>
            <a:ext cx="151890" cy="1518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887968" y="3090672"/>
            <a:ext cx="150143" cy="1501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8" name="Shape 166"/>
          <p:cNvSpPr/>
          <p:nvPr/>
        </p:nvSpPr>
        <p:spPr>
          <a:xfrm>
            <a:off x="9144000" y="3090672"/>
            <a:ext cx="147962" cy="1479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9" name="Shape 167"/>
          <p:cNvSpPr/>
          <p:nvPr/>
        </p:nvSpPr>
        <p:spPr>
          <a:xfrm>
            <a:off x="9400032" y="3090672"/>
            <a:ext cx="145385" cy="14538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0" name="Shape 168"/>
          <p:cNvSpPr/>
          <p:nvPr/>
        </p:nvSpPr>
        <p:spPr>
          <a:xfrm>
            <a:off x="9656064" y="3090672"/>
            <a:ext cx="142454" cy="14245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1" name="Shape 169"/>
          <p:cNvSpPr/>
          <p:nvPr/>
        </p:nvSpPr>
        <p:spPr>
          <a:xfrm>
            <a:off x="9912096" y="3090672"/>
            <a:ext cx="139207" cy="1392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2" name="Shape 170"/>
          <p:cNvSpPr/>
          <p:nvPr/>
        </p:nvSpPr>
        <p:spPr>
          <a:xfrm>
            <a:off x="10168128" y="3090672"/>
            <a:ext cx="135683" cy="1356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3" name="Shape 171"/>
          <p:cNvSpPr/>
          <p:nvPr/>
        </p:nvSpPr>
        <p:spPr>
          <a:xfrm>
            <a:off x="10680192" y="3090672"/>
            <a:ext cx="127936" cy="1279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4" name="Shape 172"/>
          <p:cNvSpPr/>
          <p:nvPr/>
        </p:nvSpPr>
        <p:spPr>
          <a:xfrm>
            <a:off x="10936224" y="3090672"/>
            <a:ext cx="123771" cy="1237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5" name="Shape 173"/>
          <p:cNvSpPr/>
          <p:nvPr/>
        </p:nvSpPr>
        <p:spPr>
          <a:xfrm>
            <a:off x="11192256" y="3090672"/>
            <a:ext cx="119443" cy="119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6" name="Shape 174"/>
          <p:cNvSpPr/>
          <p:nvPr/>
        </p:nvSpPr>
        <p:spPr>
          <a:xfrm>
            <a:off x="11448288" y="3090672"/>
            <a:ext cx="114974" cy="11497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7" name="Shape 175"/>
          <p:cNvSpPr/>
          <p:nvPr/>
        </p:nvSpPr>
        <p:spPr>
          <a:xfrm>
            <a:off x="11704320" y="3090672"/>
            <a:ext cx="110382" cy="110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8" name="Shape 176"/>
          <p:cNvSpPr/>
          <p:nvPr/>
        </p:nvSpPr>
        <p:spPr>
          <a:xfrm>
            <a:off x="12216384" y="3090672"/>
            <a:ext cx="100884" cy="1008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9" name="Shape 177"/>
          <p:cNvSpPr/>
          <p:nvPr/>
        </p:nvSpPr>
        <p:spPr>
          <a:xfrm>
            <a:off x="7863840" y="3346704"/>
            <a:ext cx="148441" cy="1484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119872" y="3346704"/>
            <a:ext cx="148201" cy="1482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375904" y="3346704"/>
            <a:ext cx="147486" cy="1474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2" name="Shape 180"/>
          <p:cNvSpPr/>
          <p:nvPr/>
        </p:nvSpPr>
        <p:spPr>
          <a:xfrm>
            <a:off x="9400032" y="3346704"/>
            <a:ext cx="140274" cy="14027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3" name="Shape 181"/>
          <p:cNvSpPr/>
          <p:nvPr/>
        </p:nvSpPr>
        <p:spPr>
          <a:xfrm>
            <a:off x="9656064" y="3346704"/>
            <a:ext cx="137530" cy="1375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4" name="Shape 182"/>
          <p:cNvSpPr/>
          <p:nvPr/>
        </p:nvSpPr>
        <p:spPr>
          <a:xfrm>
            <a:off x="9912096" y="3346704"/>
            <a:ext cx="134475" cy="1344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5" name="Shape 183"/>
          <p:cNvSpPr/>
          <p:nvPr/>
        </p:nvSpPr>
        <p:spPr>
          <a:xfrm>
            <a:off x="10168128" y="3346704"/>
            <a:ext cx="131144" cy="1311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6" name="Shape 184"/>
          <p:cNvSpPr/>
          <p:nvPr/>
        </p:nvSpPr>
        <p:spPr>
          <a:xfrm>
            <a:off x="10424160" y="3346704"/>
            <a:ext cx="127566" cy="12756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7" name="Shape 185"/>
          <p:cNvSpPr/>
          <p:nvPr/>
        </p:nvSpPr>
        <p:spPr>
          <a:xfrm>
            <a:off x="10936224" y="3346704"/>
            <a:ext cx="119783" cy="1197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8" name="Shape 186"/>
          <p:cNvSpPr/>
          <p:nvPr/>
        </p:nvSpPr>
        <p:spPr>
          <a:xfrm>
            <a:off x="11192256" y="3346704"/>
            <a:ext cx="115624" cy="11562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1448288" y="3346704"/>
            <a:ext cx="111316" cy="1113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0" name="Shape 188"/>
          <p:cNvSpPr/>
          <p:nvPr/>
        </p:nvSpPr>
        <p:spPr>
          <a:xfrm>
            <a:off x="11704320" y="3346704"/>
            <a:ext cx="106875" cy="106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1" name="Shape 189"/>
          <p:cNvSpPr/>
          <p:nvPr/>
        </p:nvSpPr>
        <p:spPr>
          <a:xfrm>
            <a:off x="12216384" y="3346704"/>
            <a:ext cx="97654" cy="97654"/>
          </a:xfrm>
          <a:prstGeom prst="rect">
            <a:avLst/>
          </a:prstGeom>
          <a:solidFill>
            <a:srgbClr val="3E7BFA"/>
          </a:solidFill>
          <a:ln/>
        </p:spPr>
      </p:sp>
      <p:pic>
        <p:nvPicPr>
          <p:cNvPr id="192" name="Image 0" descr="/home/claude/replicate2/assets/acer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2103120" cy="2103120"/>
          </a:xfrm>
          <a:prstGeom prst="rect">
            <a:avLst/>
          </a:prstGeom>
        </p:spPr>
      </p:pic>
      <p:sp>
        <p:nvSpPr>
          <p:cNvPr id="193" name="Text 190"/>
          <p:cNvSpPr/>
          <p:nvPr/>
        </p:nvSpPr>
        <p:spPr>
          <a:xfrm>
            <a:off x="548640" y="41605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GUIDELINES</a:t>
            </a:r>
            <a:endParaRPr lang="en-US" sz="3800" dirty="0"/>
          </a:p>
        </p:txBody>
      </p:sp>
      <p:sp>
        <p:nvSpPr>
          <p:cNvPr id="194" name="Text 191"/>
          <p:cNvSpPr/>
          <p:nvPr/>
        </p:nvSpPr>
        <p:spPr>
          <a:xfrm>
            <a:off x="548640" y="5623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2 0 2 6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89280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42916" y="18928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4–8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23076" y="192024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9" name="Text 7"/>
          <p:cNvSpPr/>
          <p:nvPr/>
        </p:nvSpPr>
        <p:spPr>
          <a:xfrm>
            <a:off x="63230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63156" y="189280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817352" y="189280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294436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Foundation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42916" y="294436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17–19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23076" y="297180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7" name="Text 15"/>
          <p:cNvSpPr/>
          <p:nvPr/>
        </p:nvSpPr>
        <p:spPr>
          <a:xfrm>
            <a:off x="6323076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63156" y="294436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817352" y="294436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21–25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99592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42916" y="39959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27–32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23076" y="402336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25" name="Text 23"/>
          <p:cNvSpPr/>
          <p:nvPr/>
        </p:nvSpPr>
        <p:spPr>
          <a:xfrm>
            <a:off x="6323076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63156" y="399592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17352" y="399592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34–37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5047488"/>
            <a:ext cx="38541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&amp; Application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42916" y="504748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39–42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457200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457200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10259568" y="457200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735056" y="457200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694944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070848" y="694944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308592" y="694944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694944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59568" y="694944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35056" y="694944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10544" y="694944"/>
            <a:ext cx="125767" cy="1257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932688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833104" y="932688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070848" y="932688"/>
            <a:ext cx="182540" cy="18254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308592" y="932688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546336" y="932688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21824" y="932688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59568" y="93268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497312" y="932688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35056" y="93268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72800" y="932688"/>
            <a:ext cx="131621" cy="13162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48288" y="932688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70848" y="1170432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9784080" y="1170432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497312" y="117043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35056" y="1170432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972800" y="1170432"/>
            <a:ext cx="129947" cy="129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8595360" y="1408176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9308592" y="1408176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9784080" y="1408176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021824" y="1408176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972800" y="1408176"/>
            <a:ext cx="127667" cy="1276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11210544" y="1408176"/>
            <a:ext cx="121211" cy="1212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11448288" y="1408176"/>
            <a:ext cx="114686" cy="1146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8833104" y="1645920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9070848" y="1645920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9308592" y="1645920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259568" y="164592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497312" y="1645920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11448288" y="164592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11686032" y="1645920"/>
            <a:ext cx="105847" cy="1058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10021824" y="1883664"/>
            <a:ext cx="143455" cy="1434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97312" y="1883664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735056" y="1883664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1448288" y="1883664"/>
            <a:ext cx="109384" cy="109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9546336" y="2121408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9784080" y="2121408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259568" y="2121408"/>
            <a:ext cx="133684" cy="133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497312" y="2121408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11686032" y="2121408"/>
            <a:ext cx="100068" cy="1000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8595360" y="2359152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497312" y="2359152"/>
            <a:ext cx="123913" cy="12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735056" y="2359152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972800" y="2359152"/>
            <a:ext cx="113600" cy="1136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210544" y="2359152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833104" y="2596896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070848" y="2596896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308592" y="2596896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546336" y="259689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021824" y="2596896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497312" y="2596896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210544" y="2596896"/>
            <a:ext cx="103883" cy="103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686032" y="2596896"/>
            <a:ext cx="92837" cy="928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Text 120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</a:t>
            </a:r>
            <a:endParaRPr lang="en-US" sz="8800" dirty="0"/>
          </a:p>
        </p:txBody>
      </p:sp>
      <p:sp>
        <p:nvSpPr>
          <p:cNvPr id="123" name="Text 121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3000" dirty="0"/>
          </a:p>
        </p:txBody>
      </p:sp>
      <p:sp>
        <p:nvSpPr>
          <p:cNvPr id="124" name="Text 122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are, what we stand for, and how we sound.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We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is a performance-driven growth agency for North American SMBs and scale-ups. Unlike agencies that sell isolated channel work, we build integrated systems — every part of a client's marketing connects to and informs every other part.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26480" y="1874520"/>
            <a:ext cx="54864" cy="868680"/>
          </a:xfrm>
          <a:prstGeom prst="rect">
            <a:avLst/>
          </a:prstGeom>
          <a:solidFill>
            <a:srgbClr val="164EBD"/>
          </a:solidFill>
          <a:ln/>
        </p:spPr>
      </p:sp>
      <p:sp>
        <p:nvSpPr>
          <p:cNvPr id="6" name="Text 4"/>
          <p:cNvSpPr/>
          <p:nvPr/>
        </p:nvSpPr>
        <p:spPr>
          <a:xfrm>
            <a:off x="6355080" y="18562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AI Visibility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216712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SEO, AEO, and GEO — traditional rankings plus AI-answer-engine visibility.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26480" y="2926080"/>
            <a:ext cx="54864" cy="868680"/>
          </a:xfrm>
          <a:prstGeom prst="rect">
            <a:avLst/>
          </a:prstGeom>
          <a:solidFill>
            <a:srgbClr val="164EBD"/>
          </a:solidFill>
          <a:ln/>
        </p:spPr>
      </p:sp>
      <p:sp>
        <p:nvSpPr>
          <p:cNvPr id="9" name="Text 7"/>
          <p:cNvSpPr/>
          <p:nvPr/>
        </p:nvSpPr>
        <p:spPr>
          <a:xfrm>
            <a:off x="6355080" y="29077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Systems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55080" y="321868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generation, marketing automation, and CRM &amp; revenue tracking.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26480" y="3977640"/>
            <a:ext cx="54864" cy="868680"/>
          </a:xfrm>
          <a:prstGeom prst="rect">
            <a:avLst/>
          </a:prstGeom>
          <a:solidFill>
            <a:srgbClr val="164EBD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3959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Experience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42702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Conversion-focused website design and development.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5029200"/>
            <a:ext cx="54864" cy="868680"/>
          </a:xfrm>
          <a:prstGeom prst="rect">
            <a:avLst/>
          </a:prstGeom>
          <a:solidFill>
            <a:srgbClr val="164EBD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50109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Success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53218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assistants handling follow-up, sales support, and service.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Positioning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POSITIONING STATEMENT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101B3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1036015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North American SMBs done with fragmented marketing vendors, Acero is the AI-powered growth agency that builds one integrated system — spanning SEO/AEO/GEO, paid media, web, CRM, and follow-up — instead of isolated campaigns.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VALUES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12189" y="4343400"/>
            <a:ext cx="640080" cy="64008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9" name="Text 7"/>
          <p:cNvSpPr/>
          <p:nvPr/>
        </p:nvSpPr>
        <p:spPr>
          <a:xfrm>
            <a:off x="1512189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512064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Systematic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5486400"/>
            <a:ext cx="2658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Thinks in connected parts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3687" y="4343400"/>
            <a:ext cx="640080" cy="64008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3" name="Text 11"/>
          <p:cNvSpPr/>
          <p:nvPr/>
        </p:nvSpPr>
        <p:spPr>
          <a:xfrm>
            <a:off x="4353687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98698" y="512064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44418" y="5486400"/>
            <a:ext cx="2658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findings, doesn't hedge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95185" y="4343400"/>
            <a:ext cx="640080" cy="64008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195185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40196" y="512064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5916" y="5486400"/>
            <a:ext cx="2658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sentences, no filler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36683" y="4343400"/>
            <a:ext cx="640080" cy="64008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36683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981694" y="512064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Forward-Looking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27414" y="5486400"/>
            <a:ext cx="2658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where search is going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Mission, Vision &amp; Service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businesses build marketing systems that generate consistent leads, improve conversion, and support long-term, sustainable growth.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72200" y="18288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72200" y="214884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the definitive systems-based growth partner for North American SMBs navigating the shift from traditional search to AI-driven discovery.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MODEL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3483864" cy="1463040"/>
          </a:xfrm>
          <a:prstGeom prst="roundRect">
            <a:avLst>
              <a:gd name="adj" fmla="val 4375"/>
            </a:avLst>
          </a:prstGeom>
          <a:solidFill>
            <a:srgbClr val="101B33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93776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52544" y="4114800"/>
            <a:ext cx="3483864" cy="1463040"/>
          </a:xfrm>
          <a:prstGeom prst="roundRect">
            <a:avLst>
              <a:gd name="adj" fmla="val 4375"/>
            </a:avLst>
          </a:prstGeom>
          <a:solidFill>
            <a:srgbClr val="101B33"/>
          </a:solidFill>
          <a:ln/>
        </p:spPr>
      </p:sp>
      <p:sp>
        <p:nvSpPr>
          <p:cNvPr id="14" name="Shape 12"/>
          <p:cNvSpPr/>
          <p:nvPr/>
        </p:nvSpPr>
        <p:spPr>
          <a:xfrm>
            <a:off x="4581144" y="434340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81144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81144" y="493776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156448" y="4114800"/>
            <a:ext cx="3483864" cy="1463040"/>
          </a:xfrm>
          <a:prstGeom prst="roundRect">
            <a:avLst>
              <a:gd name="adj" fmla="val 4375"/>
            </a:avLst>
          </a:prstGeom>
          <a:solidFill>
            <a:srgbClr val="101B33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5048" y="4343400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9" name="Text 17"/>
          <p:cNvSpPr/>
          <p:nvPr/>
        </p:nvSpPr>
        <p:spPr>
          <a:xfrm>
            <a:off x="838504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85048" y="4937760"/>
            <a:ext cx="3026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Taglines &amp; Voice Reference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TAGLINE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AF0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“AI-Powered Digital Marketing That Drives Real Revenue.”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CONTEXT-SPECIFIC TAGLINES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57909" y="3794760"/>
            <a:ext cx="548640" cy="54864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9" name="Text 7"/>
          <p:cNvSpPr/>
          <p:nvPr/>
        </p:nvSpPr>
        <p:spPr>
          <a:xfrm>
            <a:off x="1557909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&amp; Content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46320"/>
            <a:ext cx="26586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in Google. Cited in ChatGPT.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99407" y="3794760"/>
            <a:ext cx="548640" cy="54864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3" name="Text 11"/>
          <p:cNvSpPr/>
          <p:nvPr/>
        </p:nvSpPr>
        <p:spPr>
          <a:xfrm>
            <a:off x="4399407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8698" y="448056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Paid Media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44418" y="4846320"/>
            <a:ext cx="26586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dollar traced to revenue.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240905" y="3794760"/>
            <a:ext cx="548640" cy="54864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7" name="Text 15"/>
          <p:cNvSpPr/>
          <p:nvPr/>
        </p:nvSpPr>
        <p:spPr>
          <a:xfrm>
            <a:off x="7240905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40196" y="448056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 Projects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5916" y="4846320"/>
            <a:ext cx="26586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to convert, not just to look good.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082403" y="3794760"/>
            <a:ext cx="548640" cy="54864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2403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81694" y="4480560"/>
            <a:ext cx="27500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 Assistants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27414" y="4846320"/>
            <a:ext cx="265861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lead waits. No lead gets lost.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 ACERO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Voice &amp; Tone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00609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Confident — states findings plainly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0609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Arrogant — dismissive of the reader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1636" y="187452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31636" y="201168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11" name="Shape 9"/>
          <p:cNvSpPr/>
          <p:nvPr/>
        </p:nvSpPr>
        <p:spPr>
          <a:xfrm>
            <a:off x="6231636" y="300609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201168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Direct — short, declarative sentences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05956" y="300609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Curt — cold or abrupt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6626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6067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6626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Consultative — diagnoses before it prescribes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36067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Preachy — lecturing the client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1636" y="422910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1636" y="436626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1636" y="536067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5956" y="436626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Systematic — thinks in connected parts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5956" y="536067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Robotic — stiff, jargon-heavy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457200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457200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308592" y="457200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021824" y="457200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497312" y="457200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1210544" y="457200"/>
            <a:ext cx="126080" cy="12608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0" y="694944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694944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21824" y="69494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59568" y="694944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35056" y="694944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10544" y="694944"/>
            <a:ext cx="125767" cy="1257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932688"/>
            <a:ext cx="182540" cy="18254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546336" y="932688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9568" y="93268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35056" y="93268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0" y="932688"/>
            <a:ext cx="131621" cy="13162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48288" y="932688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9070848" y="1170432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9784080" y="1170432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59568" y="1170432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97312" y="117043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35056" y="1170432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72800" y="1170432"/>
            <a:ext cx="129947" cy="129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686032" y="1170432"/>
            <a:ext cx="109901" cy="1099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8595360" y="1408176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021824" y="1408176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972800" y="1408176"/>
            <a:ext cx="127667" cy="1276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1210544" y="1408176"/>
            <a:ext cx="121211" cy="1212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448288" y="1408176"/>
            <a:ext cx="114686" cy="1146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8595360" y="164592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8833104" y="1645920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9070848" y="1645920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9308592" y="1645920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9784080" y="1645920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259568" y="164592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1210544" y="1645920"/>
            <a:ext cx="118597" cy="1185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1448288" y="164592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1686032" y="1645920"/>
            <a:ext cx="105847" cy="1058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10021824" y="1883664"/>
            <a:ext cx="143455" cy="1434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259568" y="1883664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10497312" y="1883664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735056" y="1883664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1448288" y="1883664"/>
            <a:ext cx="109384" cy="109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784080" y="2121408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10021824" y="212140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259568" y="2121408"/>
            <a:ext cx="133684" cy="133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497312" y="2121408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0972800" y="2121408"/>
            <a:ext cx="117744" cy="1177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11686032" y="2121408"/>
            <a:ext cx="100068" cy="1000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8595360" y="2359152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735056" y="2359152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972800" y="2359152"/>
            <a:ext cx="113600" cy="1136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210544" y="2359152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686032" y="2359152"/>
            <a:ext cx="96617" cy="966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070848" y="2596896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308592" y="2596896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546336" y="259689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021824" y="2596896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97312" y="2596896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735056" y="2596896"/>
            <a:ext cx="114141" cy="1141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972800" y="2596896"/>
            <a:ext cx="109127" cy="1091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210544" y="2596896"/>
            <a:ext cx="103883" cy="103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686032" y="2596896"/>
            <a:ext cx="92837" cy="928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3" name="Text 121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800" dirty="0"/>
          </a:p>
        </p:txBody>
      </p:sp>
      <p:sp>
        <p:nvSpPr>
          <p:cNvPr id="124" name="Text 122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3000" dirty="0"/>
          </a:p>
        </p:txBody>
      </p:sp>
      <p:sp>
        <p:nvSpPr>
          <p:cNvPr id="125" name="Text 123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mark, its anatomy, its variations, and how not to use it.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Logo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primary logo is the most complete and recognizable representation of Acero. It should be used consistently across all key touchpoints to build a strong and cohesive brand presence.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0749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6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310896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897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light backgrounds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72200" y="2468880"/>
            <a:ext cx="5074920" cy="3291840"/>
          </a:xfrm>
          <a:prstGeom prst="rect">
            <a:avLst/>
          </a:prstGeom>
          <a:solidFill>
            <a:srgbClr val="0A1533"/>
          </a:solidFill>
          <a:ln/>
        </p:spPr>
      </p:sp>
      <p:pic>
        <p:nvPicPr>
          <p:cNvPr id="9" name="Image 1" descr="/home/claude/replicate2/assets/acero-logo-white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820" y="3108960"/>
            <a:ext cx="2011680" cy="2011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72200" y="589788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dark backgrounds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Anatomy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mark isn't decorative — every part of it describes how Acero works.</a:t>
            </a:r>
            <a:endParaRPr lang="en-US" sz="1250" dirty="0"/>
          </a:p>
        </p:txBody>
      </p:sp>
      <p:pic>
        <p:nvPicPr>
          <p:cNvPr id="5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48840"/>
            <a:ext cx="32918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2194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— Acero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254203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forged foundation. Strength and precision, built from raw parts into one structure.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0" y="3337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Swoosh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0" y="368503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client's growth trajectory — from fragmented effort to a connected system.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0" y="44805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 — Digital, Closed Loop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0" y="482803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complete circle: traffic, capture, conversion, and reporting feeding back into itself.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Variations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328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5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" y="269748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8348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— White or Light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401568" y="1920240"/>
            <a:ext cx="2532888" cy="2926080"/>
          </a:xfrm>
          <a:prstGeom prst="rect">
            <a:avLst/>
          </a:prstGeom>
          <a:solidFill>
            <a:srgbClr val="0A1533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8" name="Image 1" descr="/home/claude/replicate2/assets/acero-logo-white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212" y="2697480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1568" y="498348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Reversed — On Dark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54496" y="1920240"/>
            <a:ext cx="2532888" cy="2926080"/>
          </a:xfrm>
          <a:prstGeom prst="rect">
            <a:avLst/>
          </a:prstGeom>
          <a:solidFill>
            <a:srgbClr val="EAF0FC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11" name="Image 2" descr="/home/claude/replicate2/assets/acero-logo-transparent-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2697480"/>
            <a:ext cx="1371600" cy="1371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54496" y="498348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Brand Tint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107424" y="1920240"/>
            <a:ext cx="2532888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14" name="Image 3" descr="/home/claude/replicate2/assets/acero-logo-navy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8068" y="2697480"/>
            <a:ext cx="1371600" cy="1371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07424" y="4983480"/>
            <a:ext cx="25328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 Navy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7" name="Text 11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Space &amp; Minimum Size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2103120"/>
            <a:ext cx="4114800" cy="2377440"/>
          </a:xfrm>
          <a:prstGeom prst="rect">
            <a:avLst/>
          </a:prstGeom>
          <a:ln w="12700">
            <a:solidFill>
              <a:srgbClr val="164EBD"/>
            </a:solidFill>
            <a:prstDash val="dash"/>
          </a:ln>
        </p:spPr>
      </p:sp>
      <p:pic>
        <p:nvPicPr>
          <p:cNvPr id="5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606040"/>
            <a:ext cx="1371600" cy="1371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4617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space = the height of the mark, on all sides.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94944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SIZE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49440" y="251460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Digital: 120px wide minimum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Print: 1 inch wide minimum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49440" y="356616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Below minimum size, drop the wordmark and use the mark alone.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on Backgrounds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test contrast before deployment on any brand or partner background.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22042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6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2461" y="2446020"/>
            <a:ext cx="914400" cy="914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71850" y="2103120"/>
            <a:ext cx="2622042" cy="1600200"/>
          </a:xfrm>
          <a:prstGeom prst="rect">
            <a:avLst/>
          </a:prstGeom>
          <a:solidFill>
            <a:srgbClr val="0A1533"/>
          </a:solidFill>
          <a:ln/>
        </p:spPr>
      </p:sp>
      <p:pic>
        <p:nvPicPr>
          <p:cNvPr id="8" name="Image 1" descr="/home/claude/replicate2/assets/acero-logo-white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671" y="2446020"/>
            <a:ext cx="914400" cy="914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95060" y="2103120"/>
            <a:ext cx="2622042" cy="1600200"/>
          </a:xfrm>
          <a:prstGeom prst="rect">
            <a:avLst/>
          </a:prstGeom>
          <a:solidFill>
            <a:srgbClr val="164EBD"/>
          </a:solidFill>
          <a:ln/>
        </p:spPr>
      </p:sp>
      <p:pic>
        <p:nvPicPr>
          <p:cNvPr id="10" name="Image 2" descr="/home/claude/replicate2/assets/acero-logo-white-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881" y="2446020"/>
            <a:ext cx="914400" cy="9144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9018270" y="2103120"/>
            <a:ext cx="2622042" cy="1600200"/>
          </a:xfrm>
          <a:prstGeom prst="rect">
            <a:avLst/>
          </a:prstGeom>
          <a:solidFill>
            <a:srgbClr val="EAF0FC"/>
          </a:solidFill>
          <a:ln/>
        </p:spPr>
      </p:sp>
      <p:pic>
        <p:nvPicPr>
          <p:cNvPr id="12" name="Image 3" descr="/home/claude/replicate2/assets/acero-logo-transparent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2091" y="2446020"/>
            <a:ext cx="914400" cy="9144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548640" y="3904488"/>
            <a:ext cx="2622042" cy="16002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14" name="Image 4" descr="/home/claude/replicate2/assets/acero-logo-white-s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2461" y="4247388"/>
            <a:ext cx="914400" cy="914400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3371850" y="3904488"/>
            <a:ext cx="2622042" cy="1600200"/>
          </a:xfrm>
          <a:prstGeom prst="rect">
            <a:avLst/>
          </a:prstGeom>
          <a:solidFill>
            <a:srgbClr val="8590AA"/>
          </a:solidFill>
          <a:ln/>
        </p:spPr>
      </p:sp>
      <p:pic>
        <p:nvPicPr>
          <p:cNvPr id="16" name="Image 5" descr="/home/claude/replicate2/assets/acero-logo-white-s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5671" y="4247388"/>
            <a:ext cx="914400" cy="91440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195060" y="3904488"/>
            <a:ext cx="2622042" cy="1600200"/>
          </a:xfrm>
          <a:prstGeom prst="rect">
            <a:avLst/>
          </a:prstGeom>
          <a:solidFill>
            <a:srgbClr val="1E9E63"/>
          </a:solidFill>
          <a:ln/>
        </p:spPr>
      </p:sp>
      <p:pic>
        <p:nvPicPr>
          <p:cNvPr id="18" name="Image 6" descr="/home/claude/replicate2/assets/acero-logo-white-s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881" y="4247388"/>
            <a:ext cx="914400" cy="91440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018270" y="3904488"/>
            <a:ext cx="2622042" cy="1600200"/>
          </a:xfrm>
          <a:prstGeom prst="rect">
            <a:avLst/>
          </a:prstGeom>
          <a:solidFill>
            <a:srgbClr val="C98A12"/>
          </a:solidFill>
          <a:ln/>
        </p:spPr>
      </p:sp>
      <p:pic>
        <p:nvPicPr>
          <p:cNvPr id="20" name="Image 7" descr="/home/claude/replicate2/assets/acero-logo-navy-s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2091" y="4247388"/>
            <a:ext cx="914400" cy="9144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2" name="Text 12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LOGO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Improper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6536" cy="2240280"/>
          </a:xfrm>
          <a:prstGeom prst="roundRect">
            <a:avLst>
              <a:gd name="adj" fmla="val 2449"/>
            </a:avLst>
          </a:prstGeom>
          <a:solidFill>
            <a:srgbClr val="EAF0FC"/>
          </a:solidFill>
          <a:ln/>
        </p:spPr>
      </p:sp>
      <p:pic>
        <p:nvPicPr>
          <p:cNvPr id="5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288" y="2103120"/>
            <a:ext cx="777240" cy="777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50136" y="2029968"/>
            <a:ext cx="923544" cy="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850136" y="2953512"/>
            <a:ext cx="923544" cy="-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108960"/>
            <a:ext cx="3160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stretch or distort proportions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1208" y="1874520"/>
            <a:ext cx="3526536" cy="2240280"/>
          </a:xfrm>
          <a:prstGeom prst="roundRect">
            <a:avLst>
              <a:gd name="adj" fmla="val 2449"/>
            </a:avLst>
          </a:prstGeom>
          <a:solidFill>
            <a:srgbClr val="EAF0FC"/>
          </a:solidFill>
          <a:ln/>
        </p:spPr>
      </p:sp>
      <p:pic>
        <p:nvPicPr>
          <p:cNvPr id="10" name="Image 1" descr="/home/claude/replicate2/assets/acero-logo-transparent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2103120"/>
            <a:ext cx="777240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632704" y="2029968"/>
            <a:ext cx="923544" cy="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632704" y="2953512"/>
            <a:ext cx="923544" cy="-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514088" y="3108960"/>
            <a:ext cx="3160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rotate or tilt the mark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13776" y="1874520"/>
            <a:ext cx="3526536" cy="2240280"/>
          </a:xfrm>
          <a:prstGeom prst="roundRect">
            <a:avLst>
              <a:gd name="adj" fmla="val 2449"/>
            </a:avLst>
          </a:prstGeom>
          <a:solidFill>
            <a:srgbClr val="EAF0FC"/>
          </a:solidFill>
          <a:ln/>
        </p:spPr>
      </p:sp>
      <p:pic>
        <p:nvPicPr>
          <p:cNvPr id="15" name="Image 2" descr="/home/claude/replicate2/assets/acero-logo-transparent-s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424" y="2103120"/>
            <a:ext cx="777240" cy="7772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415272" y="2029968"/>
            <a:ext cx="923544" cy="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415272" y="2953512"/>
            <a:ext cx="923544" cy="-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296656" y="3108960"/>
            <a:ext cx="3160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recolor outside the palette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70832"/>
            <a:ext cx="3526536" cy="2240280"/>
          </a:xfrm>
          <a:prstGeom prst="roundRect">
            <a:avLst>
              <a:gd name="adj" fmla="val 2449"/>
            </a:avLst>
          </a:prstGeom>
          <a:solidFill>
            <a:srgbClr val="EAF0FC"/>
          </a:solidFill>
          <a:ln/>
        </p:spPr>
      </p:sp>
      <p:pic>
        <p:nvPicPr>
          <p:cNvPr id="20" name="Image 3" descr="/home/claude/replicate2/assets/acero-logo-transparent-s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3288" y="4599432"/>
            <a:ext cx="777240" cy="77724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1850136" y="4526280"/>
            <a:ext cx="923544" cy="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1850136" y="5449824"/>
            <a:ext cx="923544" cy="-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31520" y="5605272"/>
            <a:ext cx="3160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place on low-contrast backgrounds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31208" y="4370832"/>
            <a:ext cx="3526536" cy="2240280"/>
          </a:xfrm>
          <a:prstGeom prst="roundRect">
            <a:avLst>
              <a:gd name="adj" fmla="val 2449"/>
            </a:avLst>
          </a:prstGeom>
          <a:solidFill>
            <a:srgbClr val="EAF0FC"/>
          </a:solidFill>
          <a:ln/>
        </p:spPr>
      </p:sp>
      <p:pic>
        <p:nvPicPr>
          <p:cNvPr id="25" name="Image 4" descr="/home/claude/replicate2/assets/acero-logo-transparent-s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856" y="4599432"/>
            <a:ext cx="777240" cy="77724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632704" y="4526280"/>
            <a:ext cx="923544" cy="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5632704" y="5449824"/>
            <a:ext cx="923544" cy="-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514088" y="5605272"/>
            <a:ext cx="3160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add shadows, outlines, or effects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13776" y="4370832"/>
            <a:ext cx="3526536" cy="2240280"/>
          </a:xfrm>
          <a:prstGeom prst="roundRect">
            <a:avLst>
              <a:gd name="adj" fmla="val 2449"/>
            </a:avLst>
          </a:prstGeom>
          <a:solidFill>
            <a:srgbClr val="EAF0FC"/>
          </a:solidFill>
          <a:ln/>
        </p:spPr>
      </p:sp>
      <p:pic>
        <p:nvPicPr>
          <p:cNvPr id="30" name="Image 5" descr="/home/claude/replicate2/assets/acero-logo-transparent-s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8424" y="4599432"/>
            <a:ext cx="777240" cy="77724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9415272" y="4526280"/>
            <a:ext cx="923544" cy="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9415272" y="5449824"/>
            <a:ext cx="923544" cy="-923544"/>
          </a:xfrm>
          <a:prstGeom prst="line">
            <a:avLst/>
          </a:prstGeom>
          <a:noFill/>
          <a:ln w="38100">
            <a:solidFill>
              <a:srgbClr val="D6455A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8296656" y="5605272"/>
            <a:ext cx="31607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 crop or overlap the mark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457200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457200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308592" y="457200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021824" y="457200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259568" y="457200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735056" y="457200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10544" y="457200"/>
            <a:ext cx="126080" cy="12608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595360" y="694944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070848" y="694944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694944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21824" y="69494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59568" y="694944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35056" y="694944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10544" y="694944"/>
            <a:ext cx="125767" cy="1257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8595360" y="932688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8833104" y="932688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070848" y="932688"/>
            <a:ext cx="182540" cy="18254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9308592" y="932688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9546336" y="932688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21824" y="932688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59568" y="93268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497312" y="932688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35056" y="93268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972800" y="932688"/>
            <a:ext cx="131621" cy="13162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1448288" y="932688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59568" y="1170432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35056" y="1170432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72800" y="1170432"/>
            <a:ext cx="129947" cy="129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11686032" y="1170432"/>
            <a:ext cx="109901" cy="1099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8595360" y="1408176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9308592" y="1408176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9784080" y="1408176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021824" y="1408176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10972800" y="1408176"/>
            <a:ext cx="127667" cy="1276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11210544" y="1408176"/>
            <a:ext cx="121211" cy="1212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11448288" y="1408176"/>
            <a:ext cx="114686" cy="1146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11686032" y="1408176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8595360" y="164592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9070848" y="1645920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9784080" y="1645920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0259568" y="164592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11448288" y="164592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11686032" y="1645920"/>
            <a:ext cx="105847" cy="1058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021824" y="1883664"/>
            <a:ext cx="143455" cy="1434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0497312" y="1883664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0972800" y="1883664"/>
            <a:ext cx="121507" cy="1215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9546336" y="2121408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9784080" y="2121408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021824" y="212140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0259568" y="2121408"/>
            <a:ext cx="133684" cy="133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10972800" y="2121408"/>
            <a:ext cx="117744" cy="1177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11686032" y="2121408"/>
            <a:ext cx="100068" cy="1000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8595360" y="2359152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546336" y="2359152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497312" y="2359152"/>
            <a:ext cx="123913" cy="12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735056" y="2359152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972800" y="2359152"/>
            <a:ext cx="113600" cy="1136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686032" y="2359152"/>
            <a:ext cx="96617" cy="966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833104" y="2596896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308592" y="2596896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546336" y="259689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021824" y="2596896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497312" y="2596896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735056" y="2596896"/>
            <a:ext cx="114141" cy="1141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0972800" y="2596896"/>
            <a:ext cx="109127" cy="1091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210544" y="2596896"/>
            <a:ext cx="103883" cy="103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5" name="Shape 123"/>
          <p:cNvSpPr/>
          <p:nvPr/>
        </p:nvSpPr>
        <p:spPr>
          <a:xfrm>
            <a:off x="11686032" y="2596896"/>
            <a:ext cx="92837" cy="928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6" name="Text 124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800" dirty="0"/>
          </a:p>
        </p:txBody>
      </p:sp>
      <p:sp>
        <p:nvSpPr>
          <p:cNvPr id="127" name="Text 125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FOUNDATION</a:t>
            </a:r>
            <a:endParaRPr lang="en-US" sz="3000" dirty="0"/>
          </a:p>
        </p:txBody>
      </p:sp>
      <p:sp>
        <p:nvSpPr>
          <p:cNvPr id="128" name="Text 126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official colors, and why each one earned its place.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Three Official Colors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14344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9525">
            <a:solidFill>
              <a:srgbClr val="D9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9319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429768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937760"/>
            <a:ext cx="35143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canvas. Default background — clarity and simplicity first.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7304" y="1965960"/>
            <a:ext cx="3514344" cy="2834640"/>
          </a:xfrm>
          <a:prstGeom prst="roundRect">
            <a:avLst>
              <a:gd name="adj" fmla="val 1613"/>
            </a:avLst>
          </a:prstGeom>
          <a:solidFill>
            <a:srgbClr val="164EBD"/>
          </a:solidFill>
          <a:ln w="9525">
            <a:solidFill>
              <a:srgbClr val="D9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74464" y="39319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Blue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74464" y="429768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#164EBD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37304" y="4937760"/>
            <a:ext cx="35143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signal. Trust, action, and the core brand identity.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65960"/>
            <a:ext cx="3514344" cy="2834640"/>
          </a:xfrm>
          <a:prstGeom prst="roundRect">
            <a:avLst>
              <a:gd name="adj" fmla="val 1613"/>
            </a:avLst>
          </a:prstGeom>
          <a:solidFill>
            <a:srgbClr val="0A1533"/>
          </a:solidFill>
          <a:ln w="9525">
            <a:solidFill>
              <a:srgbClr val="D9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3128" y="3931920"/>
            <a:ext cx="32400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63128" y="4297680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#0A1533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5968" y="4937760"/>
            <a:ext cx="351434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foundation. Depth, stability — covers and dividers.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Color Tints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468880" y="1965960"/>
            <a:ext cx="1687982" cy="1371600"/>
          </a:xfrm>
          <a:prstGeom prst="rect">
            <a:avLst/>
          </a:prstGeom>
          <a:solidFill>
            <a:srgbClr val="0A153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203911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301752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#0A1533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339742" y="1965960"/>
            <a:ext cx="1687982" cy="1371600"/>
          </a:xfrm>
          <a:prstGeom prst="rect">
            <a:avLst/>
          </a:prstGeom>
          <a:solidFill>
            <a:srgbClr val="1D3568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1182" y="203911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31182" y="301752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#1D3568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210605" y="1965960"/>
            <a:ext cx="1687982" cy="1371600"/>
          </a:xfrm>
          <a:prstGeom prst="rect">
            <a:avLst/>
          </a:prstGeom>
          <a:solidFill>
            <a:srgbClr val="3D5490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2045" y="203911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02045" y="301752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#3D5490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81467" y="1965960"/>
            <a:ext cx="1687982" cy="1371600"/>
          </a:xfrm>
          <a:prstGeom prst="rect">
            <a:avLst/>
          </a:prstGeom>
          <a:solidFill>
            <a:srgbClr val="8C9DC4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2907" y="203911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72907" y="301752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#8C9DC4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952330" y="1965960"/>
            <a:ext cx="1687982" cy="1371600"/>
          </a:xfrm>
          <a:prstGeom prst="rect">
            <a:avLst/>
          </a:prstGeom>
          <a:solidFill>
            <a:srgbClr val="DDE3F0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3770" y="203911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43770" y="301752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#DDE3F0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Blue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4069080"/>
            <a:ext cx="1687982" cy="1371600"/>
          </a:xfrm>
          <a:prstGeom prst="rect">
            <a:avLst/>
          </a:prstGeom>
          <a:solidFill>
            <a:srgbClr val="0F3A8E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414223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60320" y="512064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#0F3A8E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39742" y="4069080"/>
            <a:ext cx="1687982" cy="1371600"/>
          </a:xfrm>
          <a:prstGeom prst="rect">
            <a:avLst/>
          </a:prstGeom>
          <a:solidFill>
            <a:srgbClr val="164EBD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1182" y="414223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31182" y="512064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#164EBD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210605" y="4069080"/>
            <a:ext cx="1687982" cy="1371600"/>
          </a:xfrm>
          <a:prstGeom prst="rect">
            <a:avLst/>
          </a:prstGeom>
          <a:solidFill>
            <a:srgbClr val="3E7BFA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2045" y="414223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2045" y="512064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#3E7BFA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81467" y="4069080"/>
            <a:ext cx="1687982" cy="1371600"/>
          </a:xfrm>
          <a:prstGeom prst="rect">
            <a:avLst/>
          </a:prstGeom>
          <a:solidFill>
            <a:srgbClr val="AFC7F7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72907" y="414223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72907" y="512064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#AFC7F7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952330" y="4069080"/>
            <a:ext cx="1687982" cy="1371600"/>
          </a:xfrm>
          <a:prstGeom prst="rect">
            <a:avLst/>
          </a:prstGeom>
          <a:solidFill>
            <a:srgbClr val="EAF0FC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43770" y="4142232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43770" y="5120640"/>
            <a:ext cx="15051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#EAF0FC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Rationale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02152" cy="4434840"/>
          </a:xfrm>
          <a:prstGeom prst="roundRect">
            <a:avLst>
              <a:gd name="adj" fmla="val 1828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12264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— The Canvas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299008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matters: clarity beats decoration. White is the default state — color only appears where it earns its place.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3502152" cy="4434840"/>
          </a:xfrm>
          <a:prstGeom prst="roundRect">
            <a:avLst>
              <a:gd name="adj" fmla="val 1828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112264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20574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Blue — The Signal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9432" y="2743200"/>
            <a:ext cx="299008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matters: one consistent blue, used deliberately, reads as more confident than a palette full of competing colors.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74520"/>
            <a:ext cx="3502152" cy="4434840"/>
          </a:xfrm>
          <a:prstGeom prst="roundRect">
            <a:avLst>
              <a:gd name="adj" fmla="val 1828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394192" y="2112264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6" name="Text 14"/>
          <p:cNvSpPr/>
          <p:nvPr/>
        </p:nvSpPr>
        <p:spPr>
          <a:xfrm>
            <a:off x="839419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06840" y="2057400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 — The Foundation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94192" y="2743200"/>
            <a:ext cx="299008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this matters: depth without noise. Navy carries covers and dividers so content slides can stay light and legible.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457200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308592" y="457200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57200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259568" y="457200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497312" y="457200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735056" y="457200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10544" y="457200"/>
            <a:ext cx="126080" cy="12608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70848" y="694944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308592" y="694944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21824" y="69494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35056" y="694944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932688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070848" y="932688"/>
            <a:ext cx="182540" cy="18254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308592" y="932688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546336" y="932688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21824" y="932688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259568" y="93268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35056" y="93268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972800" y="932688"/>
            <a:ext cx="131621" cy="13162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48288" y="932688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595360" y="1170432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9070848" y="1170432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59568" y="1170432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97312" y="117043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35056" y="1170432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972800" y="1170432"/>
            <a:ext cx="129947" cy="129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11686032" y="1170432"/>
            <a:ext cx="109901" cy="1099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8595360" y="1408176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9784080" y="1408176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972800" y="1408176"/>
            <a:ext cx="127667" cy="1276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48288" y="1408176"/>
            <a:ext cx="114686" cy="1146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686032" y="1408176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8595360" y="164592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9070848" y="1645920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9308592" y="1645920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9784080" y="1645920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59568" y="164592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497312" y="1645920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10544" y="1645920"/>
            <a:ext cx="118597" cy="1185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11686032" y="1645920"/>
            <a:ext cx="105847" cy="1058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021824" y="1883664"/>
            <a:ext cx="143455" cy="1434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10259568" y="1883664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497312" y="1883664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735056" y="1883664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0972800" y="1883664"/>
            <a:ext cx="121507" cy="1215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11448288" y="1883664"/>
            <a:ext cx="109384" cy="109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9546336" y="2121408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9784080" y="2121408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021824" y="212140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0259568" y="2121408"/>
            <a:ext cx="133684" cy="133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0497312" y="2121408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10972800" y="2121408"/>
            <a:ext cx="117744" cy="1177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11686032" y="2121408"/>
            <a:ext cx="100068" cy="1000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8595360" y="2359152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9546336" y="2359152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0497312" y="2359152"/>
            <a:ext cx="123913" cy="12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0735056" y="2359152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1210544" y="2359152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1686032" y="2359152"/>
            <a:ext cx="96617" cy="966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833104" y="2596896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9308592" y="2596896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497312" y="2596896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0735056" y="2596896"/>
            <a:ext cx="114141" cy="1141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0972800" y="2596896"/>
            <a:ext cx="109127" cy="1091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210544" y="2596896"/>
            <a:ext cx="103883" cy="103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3" name="Shape 121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4" name="Shape 122"/>
          <p:cNvSpPr/>
          <p:nvPr/>
        </p:nvSpPr>
        <p:spPr>
          <a:xfrm>
            <a:off x="11686032" y="2596896"/>
            <a:ext cx="92837" cy="928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5" name="Text 123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800" dirty="0"/>
          </a:p>
        </p:txBody>
      </p:sp>
      <p:sp>
        <p:nvSpPr>
          <p:cNvPr id="126" name="Text 124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3000" dirty="0"/>
          </a:p>
        </p:txBody>
      </p:sp>
      <p:sp>
        <p:nvSpPr>
          <p:cNvPr id="127" name="Text 125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three official colors expand into a full, usable system.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PowerPoint Theme Colors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&gt; Variants &gt; Customize Colors — the exact hex values that keep any new deck on-brand.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011680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Background 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51560" y="2258568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background, light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85716" y="2057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solidFill>
            <a:srgbClr val="EAF0FC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670048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Background 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2916936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background, light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85716" y="2715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#EAF0FC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374136"/>
            <a:ext cx="365760" cy="365760"/>
          </a:xfrm>
          <a:prstGeom prst="rect">
            <a:avLst/>
          </a:prstGeom>
          <a:solidFill>
            <a:srgbClr val="101B3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328416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Text/Foreground 1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3575304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&amp; headline text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85716" y="33741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#101B33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365760" cy="365760"/>
          </a:xfrm>
          <a:prstGeom prst="rect">
            <a:avLst/>
          </a:prstGeom>
          <a:solidFill>
            <a:srgbClr val="0A153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3986784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Text/Foreground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51560" y="4233672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slide background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85716" y="40325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#0A1533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690872"/>
            <a:ext cx="365760" cy="365760"/>
          </a:xfrm>
          <a:prstGeom prst="rect">
            <a:avLst/>
          </a:prstGeom>
          <a:solidFill>
            <a:srgbClr val="164EBD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645152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51560" y="4892040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brand accent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85716" y="46908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#164EBD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solidFill>
            <a:srgbClr val="3E7BFA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303520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51560" y="5550408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on dark slides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85716" y="5349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#3E7BFA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23076" y="2057400"/>
            <a:ext cx="365760" cy="365760"/>
          </a:xfrm>
          <a:prstGeom prst="rect">
            <a:avLst/>
          </a:prstGeom>
          <a:solidFill>
            <a:srgbClr val="AFC7F7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25996" y="2011680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25996" y="2258568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tint / highlight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360152" y="2057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#AFC7F7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23076" y="2715768"/>
            <a:ext cx="365760" cy="365760"/>
          </a:xfrm>
          <a:prstGeom prst="rect">
            <a:avLst/>
          </a:prstGeom>
          <a:solidFill>
            <a:srgbClr val="8590AA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5996" y="2670048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25996" y="2916936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 / secondary text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360152" y="271576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#8590AA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3076" y="3374136"/>
            <a:ext cx="365760" cy="365760"/>
          </a:xfrm>
          <a:prstGeom prst="rect">
            <a:avLst/>
          </a:prstGeom>
          <a:solidFill>
            <a:srgbClr val="1E9E6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5996" y="3328416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5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25996" y="3575304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— positive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360152" y="33741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#1E9E63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23076" y="4032504"/>
            <a:ext cx="365760" cy="365760"/>
          </a:xfrm>
          <a:prstGeom prst="rect">
            <a:avLst/>
          </a:prstGeom>
          <a:solidFill>
            <a:srgbClr val="C98A12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5996" y="3986784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6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25996" y="4233672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— caution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0360152" y="40325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#C98A12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23076" y="4690872"/>
            <a:ext cx="365760" cy="365760"/>
          </a:xfrm>
          <a:prstGeom prst="rect">
            <a:avLst/>
          </a:prstGeom>
          <a:solidFill>
            <a:srgbClr val="164EBD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25996" y="4645152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Hyperlink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825996" y="4892040"/>
            <a:ext cx="33969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Links, active states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360152" y="46908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#164EBD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Blue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290447" cy="2377440"/>
          </a:xfrm>
          <a:prstGeom prst="rect">
            <a:avLst/>
          </a:prstGeom>
          <a:solidFill>
            <a:srgbClr val="0A153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900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#0A1533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Darkest — text on light, dark surfaces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48815" y="1965960"/>
            <a:ext cx="1290447" cy="2377440"/>
          </a:xfrm>
          <a:prstGeom prst="rect">
            <a:avLst/>
          </a:prstGeom>
          <a:solidFill>
            <a:srgbClr val="0F3A8E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1967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700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21967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#0F3A8E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48815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 on light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48990" y="1965960"/>
            <a:ext cx="1290447" cy="2377440"/>
          </a:xfrm>
          <a:prstGeom prst="rect">
            <a:avLst/>
          </a:prstGeom>
          <a:solidFill>
            <a:srgbClr val="164EBD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2142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600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22142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#164EBD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48990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brand blue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49165" y="1965960"/>
            <a:ext cx="1290447" cy="2377440"/>
          </a:xfrm>
          <a:prstGeom prst="rect">
            <a:avLst/>
          </a:prstGeom>
          <a:solidFill>
            <a:srgbClr val="3E7BFA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2317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500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2317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#3E7BFA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49165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on dark slides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49340" y="1965960"/>
            <a:ext cx="1290447" cy="2377440"/>
          </a:xfrm>
          <a:prstGeom prst="rect">
            <a:avLst/>
          </a:prstGeom>
          <a:solidFill>
            <a:srgbClr val="6E9BF2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2492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400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22492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#6E9BF2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49340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highlight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549515" y="1965960"/>
            <a:ext cx="1290447" cy="2377440"/>
          </a:xfrm>
          <a:prstGeom prst="rect">
            <a:avLst/>
          </a:prstGeom>
          <a:solidFill>
            <a:srgbClr val="AFC7F7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2667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300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622667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#AFC7F7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549515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highlight, charts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949690" y="1965960"/>
            <a:ext cx="1290447" cy="2377440"/>
          </a:xfrm>
          <a:prstGeom prst="rect">
            <a:avLst/>
          </a:prstGeom>
          <a:solidFill>
            <a:srgbClr val="EAF0FC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22842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100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022842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#EAF0FC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949690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backgrounds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349865" y="1965960"/>
            <a:ext cx="1290447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23017" y="3776472"/>
            <a:ext cx="11441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423017" y="4032504"/>
            <a:ext cx="114414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0349865" y="4480560"/>
            <a:ext cx="1290447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page background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tint range for charts, backgrounds, and data visualization — always anchored to Brand Blue 600.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 &amp; Slate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490472" cy="2377440"/>
          </a:xfrm>
          <a:prstGeom prst="rect">
            <a:avLst/>
          </a:prstGeom>
          <a:solidFill>
            <a:srgbClr val="101B3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 900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#101B33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 on light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48840" y="1965960"/>
            <a:ext cx="1490472" cy="2377440"/>
          </a:xfrm>
          <a:prstGeom prst="rect">
            <a:avLst/>
          </a:prstGeom>
          <a:solidFill>
            <a:srgbClr val="3D4A66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219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 700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219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#3D4A66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488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1965960"/>
            <a:ext cx="1490472" cy="2377440"/>
          </a:xfrm>
          <a:prstGeom prst="rect">
            <a:avLst/>
          </a:prstGeom>
          <a:solidFill>
            <a:srgbClr val="6B7690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 500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8221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#6B7690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7490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49240" y="1965960"/>
            <a:ext cx="1490472" cy="2377440"/>
          </a:xfrm>
          <a:prstGeom prst="rect">
            <a:avLst/>
          </a:prstGeom>
          <a:solidFill>
            <a:srgbClr val="8590AA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 400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223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#8590AA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492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Captions, footnotes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49440" y="1965960"/>
            <a:ext cx="1490472" cy="2377440"/>
          </a:xfrm>
          <a:prstGeom prst="rect">
            <a:avLst/>
          </a:prstGeom>
          <a:solidFill>
            <a:srgbClr val="D9E0EE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 200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225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#D9E0EE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494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Hairlines, borders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49640" y="1965960"/>
            <a:ext cx="1490472" cy="2377440"/>
          </a:xfrm>
          <a:prstGeom prst="rect">
            <a:avLst/>
          </a:prstGeom>
          <a:solidFill>
            <a:srgbClr val="EDF0F7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227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 100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6227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#EDF0F7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496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Subtle surfaces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149840" y="1965960"/>
            <a:ext cx="149047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22992" y="3776472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222992" y="4032504"/>
            <a:ext cx="1344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149840" y="4480560"/>
            <a:ext cx="14904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Page background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4864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text hierarchy and structure — never for CTAs or brand emphasis.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Family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30552" cy="2377440"/>
          </a:xfrm>
          <a:prstGeom prst="rect">
            <a:avLst/>
          </a:prstGeom>
          <a:solidFill>
            <a:srgbClr val="6E9BF2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377647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500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1792" y="4032504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#6E9BF2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21305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Secondary highlight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88920" y="1965960"/>
            <a:ext cx="2130552" cy="2377440"/>
          </a:xfrm>
          <a:prstGeom prst="rect">
            <a:avLst/>
          </a:prstGeom>
          <a:solidFill>
            <a:srgbClr val="8FB2F5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377647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400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62072" y="4032504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#8FB2F5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88920" y="4480560"/>
            <a:ext cx="21305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 series, badges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1965960"/>
            <a:ext cx="2130552" cy="2377440"/>
          </a:xfrm>
          <a:prstGeom prst="rect">
            <a:avLst/>
          </a:prstGeom>
          <a:solidFill>
            <a:srgbClr val="AFC7F7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2352" y="377647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300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02352" y="4032504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#AFC7F7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0" y="4480560"/>
            <a:ext cx="21305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highlight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69480" y="1965960"/>
            <a:ext cx="2130552" cy="2377440"/>
          </a:xfrm>
          <a:prstGeom prst="rect">
            <a:avLst/>
          </a:prstGeom>
          <a:solidFill>
            <a:srgbClr val="CBDBFA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42632" y="377647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200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42632" y="4032504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#CBDBFA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269480" y="4480560"/>
            <a:ext cx="21305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Backgrounds, tags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1965960"/>
            <a:ext cx="2130552" cy="2377440"/>
          </a:xfrm>
          <a:prstGeom prst="rect">
            <a:avLst/>
          </a:prstGeom>
          <a:solidFill>
            <a:srgbClr val="EAF0FC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82912" y="3776472"/>
            <a:ext cx="198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Sky 100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582912" y="4032504"/>
            <a:ext cx="1984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#EAF0FC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509760" y="4480560"/>
            <a:ext cx="21305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surfaces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54864" cy="45720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623560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AVOID: Sky + Brand Blue text on white — contrast is too low.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7356" y="5623560"/>
            <a:ext cx="54864" cy="45720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29" name="Text 27"/>
          <p:cNvSpPr/>
          <p:nvPr/>
        </p:nvSpPr>
        <p:spPr>
          <a:xfrm>
            <a:off x="6460236" y="5623560"/>
            <a:ext cx="51800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SPARINGLY: backgrounds, tags, and chart fills only.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 &amp; Status Colors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3774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194560"/>
            <a:ext cx="2377440" cy="1005840"/>
          </a:xfrm>
          <a:prstGeom prst="rect">
            <a:avLst/>
          </a:prstGeom>
          <a:solidFill>
            <a:srgbClr val="EAF0FC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Tint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2194560"/>
            <a:ext cx="2377440" cy="1005840"/>
          </a:xfrm>
          <a:prstGeom prst="rect">
            <a:avLst/>
          </a:prstGeom>
          <a:solidFill>
            <a:srgbClr val="0A1533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366760" y="2194560"/>
            <a:ext cx="2377440" cy="1005840"/>
          </a:xfrm>
          <a:prstGeom prst="rect">
            <a:avLst/>
          </a:prstGeom>
          <a:solidFill>
            <a:srgbClr val="132248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21945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 Card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COLORS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2377440" cy="100584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54680" y="4023360"/>
            <a:ext cx="2377440" cy="1005840"/>
          </a:xfrm>
          <a:prstGeom prst="rect">
            <a:avLst/>
          </a:prstGeom>
          <a:solidFill>
            <a:srgbClr val="C98A12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4023360"/>
            <a:ext cx="2377440" cy="100584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0" y="40233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colors are functional only — used in dashboards and reports, never as brand decoration.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457200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457200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308592" y="457200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021824" y="457200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259568" y="457200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497312" y="457200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735056" y="457200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210544" y="457200"/>
            <a:ext cx="126080" cy="12608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0" y="694944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9070848" y="694944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9784080" y="694944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59568" y="694944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210544" y="694944"/>
            <a:ext cx="125767" cy="1257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595360" y="932688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308592" y="932688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259568" y="93268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497312" y="932688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35056" y="93268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48288" y="932688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8595360" y="1170432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9070848" y="1170432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9784080" y="1170432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497312" y="117043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72800" y="1170432"/>
            <a:ext cx="129947" cy="129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686032" y="1170432"/>
            <a:ext cx="109901" cy="1099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8595360" y="1408176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308592" y="1408176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9784080" y="1408176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021824" y="1408176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210544" y="1408176"/>
            <a:ext cx="121211" cy="1212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48288" y="1408176"/>
            <a:ext cx="114686" cy="1146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686032" y="1408176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8595360" y="164592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8833104" y="1645920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9070848" y="1645920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9308592" y="1645920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259568" y="164592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1210544" y="1645920"/>
            <a:ext cx="118597" cy="1185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1448288" y="164592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10021824" y="1883664"/>
            <a:ext cx="143455" cy="1434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259568" y="1883664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10497312" y="1883664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735056" y="1883664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0972800" y="1883664"/>
            <a:ext cx="121507" cy="1215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1448288" y="1883664"/>
            <a:ext cx="109384" cy="109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9546336" y="2121408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021824" y="212140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259568" y="2121408"/>
            <a:ext cx="133684" cy="1336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497312" y="2121408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0972800" y="2121408"/>
            <a:ext cx="117744" cy="1177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8595360" y="2359152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9546336" y="2359152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497312" y="2359152"/>
            <a:ext cx="123913" cy="12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0972800" y="2359152"/>
            <a:ext cx="113600" cy="1136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210544" y="2359152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11686032" y="2359152"/>
            <a:ext cx="96617" cy="966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8833104" y="2596896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070848" y="2596896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546336" y="259689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497312" y="2596896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735056" y="2596896"/>
            <a:ext cx="114141" cy="1141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972800" y="2596896"/>
            <a:ext cx="109127" cy="1091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686032" y="2596896"/>
            <a:ext cx="92837" cy="928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Text 120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800" dirty="0"/>
          </a:p>
        </p:txBody>
      </p:sp>
      <p:sp>
        <p:nvSpPr>
          <p:cNvPr id="123" name="Text 121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3000" dirty="0"/>
          </a:p>
        </p:txBody>
      </p:sp>
      <p:sp>
        <p:nvSpPr>
          <p:cNvPr id="124" name="Text 122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typeface, used deliberately across every weight.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System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937760" cy="3840480"/>
          </a:xfrm>
          <a:prstGeom prst="roundRect">
            <a:avLst>
              <a:gd name="adj" fmla="val 1429"/>
            </a:avLst>
          </a:prstGeom>
          <a:solidFill>
            <a:srgbClr val="132248"/>
          </a:solidFill>
          <a:ln/>
        </p:spPr>
      </p:sp>
      <p:pic>
        <p:nvPicPr>
          <p:cNvPr id="5" name="Image 0" descr="/home/claude/replicate2/assets/acer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94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9164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 2026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914400" y="329184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replaces every legacy typeface across the brand — one family, weighted deliberately for hierarchy instead of split across multiple fonts.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SYSTEM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Title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Bold, 32–40pt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Heading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0" y="3520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SemiBold, 18–22pt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&amp; documents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4360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Regular, 11–15pt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4754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 / metadata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4360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Regular, 9–10pt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Fallback &amp; Compatibility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isn't bundled with Microsoft Office by default. Install it org-wide for full fidelity — but documents still need to degrade safely if it's missing.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74920" cy="3200400"/>
          </a:xfrm>
          <a:prstGeom prst="roundRect">
            <a:avLst>
              <a:gd name="adj" fmla="val 1714"/>
            </a:avLst>
          </a:prstGeom>
          <a:solidFill>
            <a:srgbClr val="EAF0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060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Delivered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— installed, full fidelity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delivers data-driven solutions that modernize marketing infrastructure at scale.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074920" cy="3200400"/>
          </a:xfrm>
          <a:prstGeom prst="roundRect">
            <a:avLst>
              <a:gd name="adj" fmla="val 1714"/>
            </a:avLst>
          </a:prstGeom>
          <a:solidFill>
            <a:srgbClr val="EAF0FC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60604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Delivered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3246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Arial — automatic fallback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365760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Acero delivers data-driven solutions that modernize marketing infrastructure at scale.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Scale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9293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22037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40pt Bold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0" y="18745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7523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— Slide Title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30266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32pt Bold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60320" y="269748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Guidelines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357530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— Section Head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8496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20pt SemiBold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0" y="352044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" y="439826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H3 — Subsection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6725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15pt SemiBold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60320" y="434340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Rules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522122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549554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13pt Regular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516636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delivers marketing systems built to compound.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441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31850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9pt Regular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5989320"/>
            <a:ext cx="9326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 1.0 —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0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Bb Cc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Headlines &amp; Section Titles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Black 900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ExtraBold 800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 700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SemiBold 600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338328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 C D E F G H I J K L M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O P Q R S T U V W X Y Z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 c d e f g h i j k l m n o p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1 2 3 4 5 6 7 8 9 @ # &amp;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“Built for the AI era of marketing.”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4E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15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 Bb Cc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&amp; Data Tables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300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 400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 500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800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SemiBold 600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338328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 C D E F G H I J K L 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 O P Q R S T U V W X Y Z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 c d e f g h i j k l m n o 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AF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1 2 3 4 5 6 7 8 9 @ # &amp;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EAF0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is a clean, modern sans-serif optimized for readability across screens and print — used for body text, reports, and data tables throughout the brand.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Typography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00609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DO — Left-align body text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00609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DON'T — Don't use ALL CAPS for body copy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1636" y="187452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6231636" y="201168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11" name="Shape 9"/>
          <p:cNvSpPr/>
          <p:nvPr/>
        </p:nvSpPr>
        <p:spPr>
          <a:xfrm>
            <a:off x="6231636" y="300609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05956" y="201168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DO — Limit to 2 weights per slide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05956" y="300609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DON'T — Don't go below 9pt on slides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2910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36626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536067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6626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DO — Use line spacing 1.2–1.4x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36067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DON'T — Don't mix Inter with unapproved typefaces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1636" y="4229100"/>
            <a:ext cx="5408676" cy="2080260"/>
          </a:xfrm>
          <a:prstGeom prst="roundRect">
            <a:avLst>
              <a:gd name="adj" fmla="val 2637"/>
            </a:avLst>
          </a:prstGeom>
          <a:solidFill>
            <a:srgbClr val="EA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231636" y="4366260"/>
            <a:ext cx="54864" cy="811530"/>
          </a:xfrm>
          <a:prstGeom prst="rect">
            <a:avLst/>
          </a:prstGeom>
          <a:solidFill>
            <a:srgbClr val="1E9E63"/>
          </a:solidFill>
          <a:ln/>
        </p:spPr>
      </p:sp>
      <p:sp>
        <p:nvSpPr>
          <p:cNvPr id="21" name="Shape 19"/>
          <p:cNvSpPr/>
          <p:nvPr/>
        </p:nvSpPr>
        <p:spPr>
          <a:xfrm>
            <a:off x="6231636" y="5360670"/>
            <a:ext cx="54864" cy="811530"/>
          </a:xfrm>
          <a:prstGeom prst="rect">
            <a:avLst/>
          </a:prstGeom>
          <a:solidFill>
            <a:srgbClr val="D645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05956" y="436626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DO — Keep hierarchy to 3 sizes per slide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05956" y="5360670"/>
            <a:ext cx="4905756" cy="811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DON'T — Don't center long paragraphs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833104" y="457200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070848" y="457200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308592" y="457200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259568" y="457200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497312" y="457200"/>
            <a:ext cx="146808" cy="14680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735056" y="457200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11210544" y="457200"/>
            <a:ext cx="126080" cy="12608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308592" y="694944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21824" y="69494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59568" y="694944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0735056" y="694944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210544" y="694944"/>
            <a:ext cx="125767" cy="1257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5360" y="932688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8833104" y="932688"/>
            <a:ext cx="186633" cy="1866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070848" y="932688"/>
            <a:ext cx="182540" cy="18254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308592" y="932688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9546336" y="932688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21824" y="932688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259568" y="93268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97312" y="932688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35056" y="93268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972800" y="932688"/>
            <a:ext cx="131621" cy="13162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070848" y="1170432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9784080" y="1170432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59568" y="1170432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35056" y="1170432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8595360" y="1408176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308592" y="1408176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9784080" y="1408176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021824" y="1408176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210544" y="1408176"/>
            <a:ext cx="121211" cy="1212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1448288" y="1408176"/>
            <a:ext cx="114686" cy="11468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8595360" y="164592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9308592" y="1645920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10259568" y="164592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497312" y="1645920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1210544" y="1645920"/>
            <a:ext cx="118597" cy="1185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1448288" y="164592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1686032" y="1645920"/>
            <a:ext cx="105847" cy="1058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10497312" y="1883664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735056" y="1883664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10972800" y="1883664"/>
            <a:ext cx="121507" cy="1215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1448288" y="1883664"/>
            <a:ext cx="109384" cy="109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9546336" y="2121408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784080" y="2121408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10021824" y="212140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497312" y="2121408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0972800" y="2121408"/>
            <a:ext cx="117744" cy="1177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11686032" y="2121408"/>
            <a:ext cx="100068" cy="1000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546336" y="2359152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497312" y="2359152"/>
            <a:ext cx="123913" cy="12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0735056" y="2359152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0972800" y="2359152"/>
            <a:ext cx="113600" cy="1136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210544" y="2359152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11686032" y="2359152"/>
            <a:ext cx="96617" cy="966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8833104" y="2596896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070848" y="2596896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9308592" y="2596896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9546336" y="259689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021824" y="2596896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0735056" y="2596896"/>
            <a:ext cx="114141" cy="1141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0972800" y="2596896"/>
            <a:ext cx="109127" cy="1091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Shape 118"/>
          <p:cNvSpPr/>
          <p:nvPr/>
        </p:nvSpPr>
        <p:spPr>
          <a:xfrm>
            <a:off x="11210544" y="2596896"/>
            <a:ext cx="103883" cy="103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1" name="Shape 119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2" name="Shape 120"/>
          <p:cNvSpPr/>
          <p:nvPr/>
        </p:nvSpPr>
        <p:spPr>
          <a:xfrm>
            <a:off x="11686032" y="2596896"/>
            <a:ext cx="92837" cy="9283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3" name="Text 121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800" dirty="0"/>
          </a:p>
        </p:txBody>
      </p:sp>
      <p:sp>
        <p:nvSpPr>
          <p:cNvPr id="124" name="Text 122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3000" dirty="0"/>
          </a:p>
        </p:txBody>
      </p:sp>
      <p:sp>
        <p:nvSpPr>
          <p:cNvPr id="125" name="Text 123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at work — decks, cards, and digital assets.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Presentation Slide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035040" cy="4114800"/>
          </a:xfrm>
          <a:prstGeom prst="rect">
            <a:avLst/>
          </a:prstGeom>
          <a:solidFill>
            <a:srgbClr val="0A15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Performance Review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4297680"/>
            <a:ext cx="548640" cy="1188720"/>
          </a:xfrm>
          <a:prstGeom prst="rect">
            <a:avLst/>
          </a:prstGeom>
          <a:solidFill>
            <a:srgbClr val="132248"/>
          </a:solidFill>
          <a:ln/>
        </p:spPr>
      </p:sp>
      <p:sp>
        <p:nvSpPr>
          <p:cNvPr id="7" name="Shape 5"/>
          <p:cNvSpPr/>
          <p:nvPr/>
        </p:nvSpPr>
        <p:spPr>
          <a:xfrm>
            <a:off x="1965960" y="3584448"/>
            <a:ext cx="548640" cy="19019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2834640" y="4654296"/>
            <a:ext cx="548640" cy="832104"/>
          </a:xfrm>
          <a:prstGeom prst="rect">
            <a:avLst/>
          </a:prstGeom>
          <a:solidFill>
            <a:srgbClr val="132248"/>
          </a:solidFill>
          <a:ln/>
        </p:spPr>
      </p:sp>
      <p:sp>
        <p:nvSpPr>
          <p:cNvPr id="9" name="Shape 7"/>
          <p:cNvSpPr/>
          <p:nvPr/>
        </p:nvSpPr>
        <p:spPr>
          <a:xfrm>
            <a:off x="3703320" y="3941064"/>
            <a:ext cx="548640" cy="1545336"/>
          </a:xfrm>
          <a:prstGeom prst="rect">
            <a:avLst/>
          </a:prstGeom>
          <a:solidFill>
            <a:srgbClr val="132248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920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 System Overview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40880" y="2377440"/>
            <a:ext cx="4114800" cy="640080"/>
          </a:xfrm>
          <a:prstGeom prst="rect">
            <a:avLst/>
          </a:prstGeom>
          <a:solidFill>
            <a:srgbClr val="0A1533"/>
          </a:solidFill>
          <a:ln/>
        </p:spPr>
      </p:sp>
      <p:sp>
        <p:nvSpPr>
          <p:cNvPr id="12" name="Shape 10"/>
          <p:cNvSpPr/>
          <p:nvPr/>
        </p:nvSpPr>
        <p:spPr>
          <a:xfrm>
            <a:off x="7040880" y="3154680"/>
            <a:ext cx="4114800" cy="640080"/>
          </a:xfrm>
          <a:prstGeom prst="rect">
            <a:avLst/>
          </a:prstGeom>
          <a:solidFill>
            <a:srgbClr val="164EBD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0880" y="3931920"/>
            <a:ext cx="4114800" cy="64008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0" y="4709160"/>
            <a:ext cx="4114800" cy="640080"/>
          </a:xfrm>
          <a:prstGeom prst="rect">
            <a:avLst/>
          </a:prstGeom>
          <a:solidFill>
            <a:srgbClr val="EAF0FC"/>
          </a:solidFill>
          <a:ln w="6350">
            <a:solidFill>
              <a:srgbClr val="D9E0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Card Variations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E0EE"/>
            </a:solidFill>
            <a:prstDash val="solid"/>
          </a:ln>
        </p:spPr>
      </p:sp>
      <p:pic>
        <p:nvPicPr>
          <p:cNvPr id="5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 Lee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7724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&amp; Growth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3493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acerodigitalmarketing.com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White Edition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2011680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0A1533"/>
          </a:solidFill>
          <a:ln/>
        </p:spPr>
      </p:sp>
      <p:pic>
        <p:nvPicPr>
          <p:cNvPr id="11" name="Image 1" descr="/home/claude/replicate2/assets/acero-logo-white-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2402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 Lee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09160" y="3200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&amp; Growth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709160" y="349300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acerodigitalmarketing.com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480560" y="3977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Navy Edition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8638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SPECIFICATIONS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863840" y="24688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Size: 3.5 x 2 in · US standard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Stock: 32pt matte or soft-touch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Logo: min 0.4in height, corner-anchored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&amp; Social Media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035040" cy="2743200"/>
          </a:xfrm>
          <a:prstGeom prst="rect">
            <a:avLst/>
          </a:prstGeom>
          <a:solidFill>
            <a:srgbClr val="0A153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4747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6118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3611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39319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Digital Marketing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800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banner + profile mockup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040880" y="1920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ASSET SIZES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0408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Banner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784080" y="2377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1584 x 396 px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 Profile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8408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x 400 px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Twitter/X Header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78408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1500 x 500 px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&amp; Social Media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ASSET SIZES, CONTINUED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 Logo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4904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 x 120 px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Favicon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74904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 x 64 px (or 32 x 32)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Instagram Post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490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1080 x 1080 px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2057400"/>
            <a:ext cx="4663440" cy="1463040"/>
          </a:xfrm>
          <a:prstGeom prst="roundRect">
            <a:avLst>
              <a:gd name="adj" fmla="val 3750"/>
            </a:avLst>
          </a:prstGeom>
          <a:solidFill>
            <a:srgbClr val="EAF0FC"/>
          </a:solidFill>
          <a:ln/>
        </p:spPr>
      </p:sp>
      <p:pic>
        <p:nvPicPr>
          <p:cNvPr id="12" name="Image 0" descr="/home/claude/replicate2/assets/acero-logo-transparent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3774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095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Jordan Lee  ·  Strategy &amp; Growth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26243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email@acerodigitalmarketing.com  ·  (917) 551-5372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909560" y="28986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acerodigitalmarketing.com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49440" y="3657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signature — fixed light template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457200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9308592" y="457200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9546336" y="457200"/>
            <a:ext cx="174445" cy="1744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784080" y="45720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10021824" y="457200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735056" y="457200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457200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1448288" y="457200"/>
            <a:ext cx="119171" cy="119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11686032" y="45720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694944"/>
            <a:ext cx="195173" cy="19517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833104" y="694944"/>
            <a:ext cx="192311" cy="1923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308592" y="694944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546336" y="694944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694944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21824" y="69494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97312" y="694944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735056" y="694944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0972800" y="694944"/>
            <a:ext cx="132645" cy="13264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11210544" y="694944"/>
            <a:ext cx="125767" cy="1257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48288" y="694944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11686032" y="694944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932688"/>
            <a:ext cx="188264" cy="18826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70848" y="932688"/>
            <a:ext cx="182540" cy="18254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308592" y="932688"/>
            <a:ext cx="177171" cy="177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546336" y="932688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9784080" y="932688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21824" y="932688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97312" y="932688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972800" y="932688"/>
            <a:ext cx="131621" cy="13162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10544" y="932688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448288" y="932688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11686032" y="932688"/>
            <a:ext cx="111205" cy="11120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8595360" y="1170432"/>
            <a:ext cx="181355" cy="181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8833104" y="1170432"/>
            <a:ext cx="180233" cy="1802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9308592" y="1170432"/>
            <a:ext cx="172769" cy="17276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9546336" y="1170432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9784080" y="1170432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10021824" y="1170432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10259568" y="1170432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97312" y="117043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735056" y="1170432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972800" y="1170432"/>
            <a:ext cx="129947" cy="129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11210544" y="1170432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48288" y="1170432"/>
            <a:ext cx="116619" cy="11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11686032" y="1170432"/>
            <a:ext cx="109901" cy="1099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8833104" y="1408176"/>
            <a:ext cx="173595" cy="1735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9070848" y="1408176"/>
            <a:ext cx="171183" cy="1711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9308592" y="1408176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546336" y="1408176"/>
            <a:ext cx="162998" cy="16299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784080" y="1408176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21824" y="1408176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10259568" y="1408176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10497312" y="1408176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10735056" y="1408176"/>
            <a:ext cx="134034" cy="134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10972800" y="1408176"/>
            <a:ext cx="127667" cy="12766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1210544" y="1408176"/>
            <a:ext cx="121211" cy="12121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1686032" y="1408176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8595360" y="1645920"/>
            <a:ext cx="167536" cy="1675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8833104" y="1645920"/>
            <a:ext cx="166852" cy="1668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9070848" y="1645920"/>
            <a:ext cx="164875" cy="1648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9308592" y="1645920"/>
            <a:ext cx="161795" cy="1617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9546336" y="1645920"/>
            <a:ext cx="157841" cy="1578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9784080" y="1645920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10021824" y="1645920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497312" y="1645920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735056" y="1645920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10972800" y="1645920"/>
            <a:ext cx="124834" cy="1248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11210544" y="1645920"/>
            <a:ext cx="118597" cy="11859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11448288" y="1645920"/>
            <a:ext cx="112262" cy="1122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11686032" y="1645920"/>
            <a:ext cx="105847" cy="1058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8595360" y="1883664"/>
            <a:ext cx="160627" cy="160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8833104" y="1883664"/>
            <a:ext cx="160055" cy="1600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9070848" y="1883664"/>
            <a:ext cx="158384" cy="158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308592" y="1883664"/>
            <a:ext cx="155733" cy="155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546336" y="1883664"/>
            <a:ext cx="152259" cy="15225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9784080" y="1883664"/>
            <a:ext cx="148119" cy="1481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021824" y="1883664"/>
            <a:ext cx="143455" cy="1434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10735056" y="1883664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10972800" y="1883664"/>
            <a:ext cx="121507" cy="1215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11210544" y="1883664"/>
            <a:ext cx="115509" cy="115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11448288" y="1883664"/>
            <a:ext cx="109384" cy="1093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11686032" y="1883664"/>
            <a:ext cx="103156" cy="10315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8595360" y="2121408"/>
            <a:ext cx="153717" cy="1537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8833104" y="2121408"/>
            <a:ext cx="153226" cy="1532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9070848" y="2121408"/>
            <a:ext cx="151782" cy="1517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9308592" y="2121408"/>
            <a:ext cx="149463" cy="1494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9546336" y="2121408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9784080" y="2121408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10021824" y="2121408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10735056" y="2121408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11210544" y="2121408"/>
            <a:ext cx="111996" cy="1119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11448288" y="2121408"/>
            <a:ext cx="106095" cy="10609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11686032" y="2121408"/>
            <a:ext cx="100068" cy="1000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8833104" y="2359152"/>
            <a:ext cx="146378" cy="14637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9070848" y="2359152"/>
            <a:ext cx="145107" cy="14510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9308592" y="2359152"/>
            <a:ext cx="143049" cy="143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9546336" y="2359152"/>
            <a:ext cx="140284" cy="14028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Shape 98"/>
          <p:cNvSpPr/>
          <p:nvPr/>
        </p:nvSpPr>
        <p:spPr>
          <a:xfrm>
            <a:off x="9784080" y="2359152"/>
            <a:ext cx="136900" cy="1369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1" name="Shape 99"/>
          <p:cNvSpPr/>
          <p:nvPr/>
        </p:nvSpPr>
        <p:spPr>
          <a:xfrm>
            <a:off x="10021824" y="2359152"/>
            <a:ext cx="132989" cy="13298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259568" y="2359152"/>
            <a:ext cx="128636" cy="12863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10497312" y="2359152"/>
            <a:ext cx="123913" cy="12391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735056" y="2359152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5" name="Shape 103"/>
          <p:cNvSpPr/>
          <p:nvPr/>
        </p:nvSpPr>
        <p:spPr>
          <a:xfrm>
            <a:off x="11210544" y="2359152"/>
            <a:ext cx="108106" cy="1081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6" name="Shape 104"/>
          <p:cNvSpPr/>
          <p:nvPr/>
        </p:nvSpPr>
        <p:spPr>
          <a:xfrm>
            <a:off x="11448288" y="2359152"/>
            <a:ext cx="102435" cy="1024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7" name="Shape 105"/>
          <p:cNvSpPr/>
          <p:nvPr/>
        </p:nvSpPr>
        <p:spPr>
          <a:xfrm>
            <a:off x="11686032" y="2359152"/>
            <a:ext cx="96617" cy="966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8595360" y="2596896"/>
            <a:ext cx="139899" cy="13989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8833104" y="2596896"/>
            <a:ext cx="139516" cy="1395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0" name="Shape 108"/>
          <p:cNvSpPr/>
          <p:nvPr/>
        </p:nvSpPr>
        <p:spPr>
          <a:xfrm>
            <a:off x="9070848" y="2596896"/>
            <a:ext cx="138382" cy="1383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1" name="Shape 109"/>
          <p:cNvSpPr/>
          <p:nvPr/>
        </p:nvSpPr>
        <p:spPr>
          <a:xfrm>
            <a:off x="9308592" y="2596896"/>
            <a:ext cx="136535" cy="1365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2" name="Shape 110"/>
          <p:cNvSpPr/>
          <p:nvPr/>
        </p:nvSpPr>
        <p:spPr>
          <a:xfrm>
            <a:off x="9784080" y="2596896"/>
            <a:ext cx="130947" cy="1309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0021824" y="2596896"/>
            <a:ext cx="127347" cy="1273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4" name="Shape 112"/>
          <p:cNvSpPr/>
          <p:nvPr/>
        </p:nvSpPr>
        <p:spPr>
          <a:xfrm>
            <a:off x="10259568" y="2596896"/>
            <a:ext cx="123304" cy="12330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497312" y="2596896"/>
            <a:ext cx="118883" cy="118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0735056" y="2596896"/>
            <a:ext cx="114141" cy="11414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7" name="Shape 115"/>
          <p:cNvSpPr/>
          <p:nvPr/>
        </p:nvSpPr>
        <p:spPr>
          <a:xfrm>
            <a:off x="10972800" y="2596896"/>
            <a:ext cx="109127" cy="1091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11210544" y="2596896"/>
            <a:ext cx="103883" cy="10388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9" name="Shape 117"/>
          <p:cNvSpPr/>
          <p:nvPr/>
        </p:nvSpPr>
        <p:spPr>
          <a:xfrm>
            <a:off x="11448288" y="2596896"/>
            <a:ext cx="98443" cy="9844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0" name="Text 118"/>
          <p:cNvSpPr/>
          <p:nvPr/>
        </p:nvSpPr>
        <p:spPr>
          <a:xfrm>
            <a:off x="5486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3E7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800" dirty="0"/>
          </a:p>
        </p:txBody>
      </p:sp>
      <p:sp>
        <p:nvSpPr>
          <p:cNvPr id="121" name="Text 119"/>
          <p:cNvSpPr/>
          <p:nvPr/>
        </p:nvSpPr>
        <p:spPr>
          <a:xfrm>
            <a:off x="548640" y="37947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&amp; APPLICATION</a:t>
            </a:r>
            <a:endParaRPr lang="en-US" sz="3000" dirty="0"/>
          </a:p>
        </p:txBody>
      </p:sp>
      <p:sp>
        <p:nvSpPr>
          <p:cNvPr id="122" name="Text 120"/>
          <p:cNvSpPr/>
          <p:nvPr/>
        </p:nvSpPr>
        <p:spPr>
          <a:xfrm>
            <a:off x="548640" y="45262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Applying the palette correctly, and the mistakes that break it.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&amp;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Apply the Palette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99532" cy="2071116"/>
          </a:xfrm>
          <a:prstGeom prst="roundRect">
            <a:avLst>
              <a:gd name="adj" fmla="val 3091"/>
            </a:avLst>
          </a:prstGeom>
          <a:solidFill>
            <a:srgbClr val="EAF0F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112264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3022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Treatment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04672" y="2743200"/>
            <a:ext cx="4887468" cy="101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Covers and dividers. Navy background, white headlines, Blue Bright reserved for numerals and emphasis only.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874520"/>
            <a:ext cx="5399532" cy="2071116"/>
          </a:xfrm>
          <a:prstGeom prst="roundRect">
            <a:avLst>
              <a:gd name="adj" fmla="val 3091"/>
            </a:avLst>
          </a:prstGeom>
          <a:solidFill>
            <a:srgbClr val="EAF0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96812" y="2112264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09460" y="2057400"/>
            <a:ext cx="43022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Treatment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96812" y="2743200"/>
            <a:ext cx="4887468" cy="101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content slides. White background, Slate text, Brand Blue reserved for CTAs and key numbers.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38244"/>
            <a:ext cx="5399532" cy="2071116"/>
          </a:xfrm>
          <a:prstGeom prst="roundRect">
            <a:avLst>
              <a:gd name="adj" fmla="val 3091"/>
            </a:avLst>
          </a:prstGeom>
          <a:solidFill>
            <a:srgbClr val="EAF0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4475988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759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421124"/>
            <a:ext cx="43022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Treatment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" y="5106924"/>
            <a:ext cx="4887468" cy="101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accent color per slide, maximum. Never mix Brand Blue and Sky as competing accents on the same layout.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40780" y="4238244"/>
            <a:ext cx="5399532" cy="2071116"/>
          </a:xfrm>
          <a:prstGeom prst="roundRect">
            <a:avLst>
              <a:gd name="adj" fmla="val 3091"/>
            </a:avLst>
          </a:prstGeom>
          <a:solidFill>
            <a:srgbClr val="EAF0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6812" y="4475988"/>
            <a:ext cx="457200" cy="457200"/>
          </a:xfrm>
          <a:prstGeom prst="ellipse">
            <a:avLst/>
          </a:prstGeom>
          <a:solidFill>
            <a:srgbClr val="164EBD"/>
          </a:solidFill>
          <a:ln/>
        </p:spPr>
      </p:sp>
      <p:sp>
        <p:nvSpPr>
          <p:cNvPr id="21" name="Text 19"/>
          <p:cNvSpPr/>
          <p:nvPr/>
        </p:nvSpPr>
        <p:spPr>
          <a:xfrm>
            <a:off x="6496812" y="44759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09460" y="4421124"/>
            <a:ext cx="43022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Pairing Rules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96812" y="5106924"/>
            <a:ext cx="4887468" cy="10195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+ White: always approved. Blue + Sky: backgrounds only, never as competing text colors.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&amp;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not to do — Part 1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3200400"/>
          </a:xfrm>
          <a:prstGeom prst="roundRect">
            <a:avLst>
              <a:gd name="adj" fmla="val 1714"/>
            </a:avLst>
          </a:prstGeom>
          <a:solidFill>
            <a:srgbClr val="EAF0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D64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59152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Flooding backgrounds with brand blue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143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as a full background overwhelms content and drops legibility. Use it as an accent, not a canvas.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2103120"/>
            <a:ext cx="5362956" cy="3200400"/>
          </a:xfrm>
          <a:prstGeom prst="roundRect">
            <a:avLst>
              <a:gd name="adj" fmla="val 1714"/>
            </a:avLst>
          </a:prstGeom>
          <a:solidFill>
            <a:srgbClr val="EAF0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51676" y="2377440"/>
            <a:ext cx="502920" cy="502920"/>
          </a:xfrm>
          <a:prstGeom prst="ellipse">
            <a:avLst/>
          </a:prstGeom>
          <a:solidFill>
            <a:srgbClr val="D64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7476" y="2359152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copy set in brand blue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51676" y="3108960"/>
            <a:ext cx="48143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text at body size fails contrast checks on white. Body copy stays Slate; blue is reserved for emphasis.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4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&amp;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Mistakes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not to do — Part 2 of 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62956" cy="3200400"/>
          </a:xfrm>
          <a:prstGeom prst="roundRect">
            <a:avLst>
              <a:gd name="adj" fmla="val 1714"/>
            </a:avLst>
          </a:prstGeom>
          <a:solidFill>
            <a:srgbClr val="EAF0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502920" cy="502920"/>
          </a:xfrm>
          <a:prstGeom prst="ellipse">
            <a:avLst/>
          </a:prstGeom>
          <a:solidFill>
            <a:srgbClr val="D6455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359152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Relying only on blue, with no neutral contrast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8143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layout needs Slate or White to rest against. All-blue slides read as unfinished, not bold.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2103120"/>
            <a:ext cx="5362956" cy="3200400"/>
          </a:xfrm>
          <a:prstGeom prst="roundRect">
            <a:avLst>
              <a:gd name="adj" fmla="val 1714"/>
            </a:avLst>
          </a:prstGeom>
          <a:solidFill>
            <a:srgbClr val="EAF0FC"/>
          </a:solidFill>
          <a:ln/>
        </p:spPr>
      </p:sp>
      <p:sp>
        <p:nvSpPr>
          <p:cNvPr id="11" name="Shape 9"/>
          <p:cNvSpPr/>
          <p:nvPr/>
        </p:nvSpPr>
        <p:spPr>
          <a:xfrm>
            <a:off x="6551676" y="2377440"/>
            <a:ext cx="502920" cy="502920"/>
          </a:xfrm>
          <a:prstGeom prst="ellipse">
            <a:avLst/>
          </a:prstGeom>
          <a:solidFill>
            <a:srgbClr val="D6455A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7476" y="2359152"/>
            <a:ext cx="41742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01B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blue shades sampled from stock images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551676" y="3108960"/>
            <a:ext cx="481431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A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the defined hex values in this guide are approved. A sampled photo-blue is never a brand color.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 — BRAND GUIDELINES 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091672" y="64922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590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15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926080"/>
            <a:ext cx="202082" cy="2020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" name="Shape 1"/>
          <p:cNvSpPr/>
          <p:nvPr/>
        </p:nvSpPr>
        <p:spPr>
          <a:xfrm>
            <a:off x="8284464" y="2926080"/>
            <a:ext cx="194472" cy="1944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" name="Shape 2"/>
          <p:cNvSpPr/>
          <p:nvPr/>
        </p:nvSpPr>
        <p:spPr>
          <a:xfrm>
            <a:off x="8522208" y="2926080"/>
            <a:ext cx="186862" cy="1868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" name="Shape 3"/>
          <p:cNvSpPr/>
          <p:nvPr/>
        </p:nvSpPr>
        <p:spPr>
          <a:xfrm>
            <a:off x="8997696" y="2926080"/>
            <a:ext cx="171642" cy="17164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" name="Shape 4"/>
          <p:cNvSpPr/>
          <p:nvPr/>
        </p:nvSpPr>
        <p:spPr>
          <a:xfrm>
            <a:off x="9235440" y="2926080"/>
            <a:ext cx="164032" cy="16403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" name="Shape 5"/>
          <p:cNvSpPr/>
          <p:nvPr/>
        </p:nvSpPr>
        <p:spPr>
          <a:xfrm>
            <a:off x="9710928" y="2926080"/>
            <a:ext cx="148812" cy="14881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" name="Shape 6"/>
          <p:cNvSpPr/>
          <p:nvPr/>
        </p:nvSpPr>
        <p:spPr>
          <a:xfrm>
            <a:off x="10186416" y="2926080"/>
            <a:ext cx="133592" cy="13359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0" y="2926080"/>
            <a:ext cx="125982" cy="1259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" name="Shape 8"/>
          <p:cNvSpPr/>
          <p:nvPr/>
        </p:nvSpPr>
        <p:spPr>
          <a:xfrm>
            <a:off x="10661904" y="2926080"/>
            <a:ext cx="118372" cy="1183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0" y="3163824"/>
            <a:ext cx="194472" cy="1944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84464" y="3163824"/>
            <a:ext cx="191320" cy="1913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759952" y="3163824"/>
            <a:ext cx="178017" cy="1780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235440" y="3163824"/>
            <a:ext cx="163279" cy="16327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9473184" y="3163824"/>
            <a:ext cx="155793" cy="15579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6" name="Shape 14"/>
          <p:cNvSpPr/>
          <p:nvPr/>
        </p:nvSpPr>
        <p:spPr>
          <a:xfrm>
            <a:off x="9710928" y="3163824"/>
            <a:ext cx="148272" cy="1482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7" name="Shape 15"/>
          <p:cNvSpPr/>
          <p:nvPr/>
        </p:nvSpPr>
        <p:spPr>
          <a:xfrm>
            <a:off x="9948672" y="3163824"/>
            <a:ext cx="140729" cy="1407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424160" y="3163824"/>
            <a:ext cx="125603" cy="12560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61904" y="3163824"/>
            <a:ext cx="118027" cy="1180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6720" y="3401568"/>
            <a:ext cx="186862" cy="18686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1" name="Shape 19"/>
          <p:cNvSpPr/>
          <p:nvPr/>
        </p:nvSpPr>
        <p:spPr>
          <a:xfrm>
            <a:off x="8522208" y="3401568"/>
            <a:ext cx="180558" cy="18055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759952" y="3401568"/>
            <a:ext cx="174644" cy="1746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3" name="Shape 21"/>
          <p:cNvSpPr/>
          <p:nvPr/>
        </p:nvSpPr>
        <p:spPr>
          <a:xfrm>
            <a:off x="8997696" y="3401568"/>
            <a:ext cx="168049" cy="168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235440" y="3401568"/>
            <a:ext cx="161101" cy="1611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5" name="Shape 23"/>
          <p:cNvSpPr/>
          <p:nvPr/>
        </p:nvSpPr>
        <p:spPr>
          <a:xfrm>
            <a:off x="9473184" y="3401568"/>
            <a:ext cx="153953" cy="15395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6" name="Shape 24"/>
          <p:cNvSpPr/>
          <p:nvPr/>
        </p:nvSpPr>
        <p:spPr>
          <a:xfrm>
            <a:off x="9710928" y="3401568"/>
            <a:ext cx="146681" cy="14668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7" name="Shape 25"/>
          <p:cNvSpPr/>
          <p:nvPr/>
        </p:nvSpPr>
        <p:spPr>
          <a:xfrm>
            <a:off x="9948672" y="3401568"/>
            <a:ext cx="139329" cy="1393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86416" y="3401568"/>
            <a:ext cx="131922" cy="13192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24160" y="3401568"/>
            <a:ext cx="124475" cy="12447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0" name="Shape 28"/>
          <p:cNvSpPr/>
          <p:nvPr/>
        </p:nvSpPr>
        <p:spPr>
          <a:xfrm>
            <a:off x="8046720" y="3639312"/>
            <a:ext cx="179252" cy="17925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1" name="Shape 29"/>
          <p:cNvSpPr/>
          <p:nvPr/>
        </p:nvSpPr>
        <p:spPr>
          <a:xfrm>
            <a:off x="8284464" y="3639312"/>
            <a:ext cx="178017" cy="17801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2" name="Shape 30"/>
          <p:cNvSpPr/>
          <p:nvPr/>
        </p:nvSpPr>
        <p:spPr>
          <a:xfrm>
            <a:off x="8522208" y="3639312"/>
            <a:ext cx="174644" cy="17464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3" name="Shape 31"/>
          <p:cNvSpPr/>
          <p:nvPr/>
        </p:nvSpPr>
        <p:spPr>
          <a:xfrm>
            <a:off x="8759952" y="3639312"/>
            <a:ext cx="169796" cy="16979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4" name="Shape 32"/>
          <p:cNvSpPr/>
          <p:nvPr/>
        </p:nvSpPr>
        <p:spPr>
          <a:xfrm>
            <a:off x="8997696" y="3639312"/>
            <a:ext cx="164032" cy="16403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5" name="Shape 33"/>
          <p:cNvSpPr/>
          <p:nvPr/>
        </p:nvSpPr>
        <p:spPr>
          <a:xfrm>
            <a:off x="9235440" y="3639312"/>
            <a:ext cx="157709" cy="1577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6" name="Shape 34"/>
          <p:cNvSpPr/>
          <p:nvPr/>
        </p:nvSpPr>
        <p:spPr>
          <a:xfrm>
            <a:off x="9473184" y="3639312"/>
            <a:ext cx="151033" cy="1510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186416" y="3639312"/>
            <a:ext cx="129888" cy="12988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24160" y="3639312"/>
            <a:ext cx="122632" cy="12263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61904" y="3639312"/>
            <a:ext cx="115315" cy="11531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8046720" y="3877056"/>
            <a:ext cx="171642" cy="17164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1" name="Shape 39"/>
          <p:cNvSpPr/>
          <p:nvPr/>
        </p:nvSpPr>
        <p:spPr>
          <a:xfrm>
            <a:off x="8284464" y="3877056"/>
            <a:ext cx="170706" cy="1707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2" name="Shape 40"/>
          <p:cNvSpPr/>
          <p:nvPr/>
        </p:nvSpPr>
        <p:spPr>
          <a:xfrm>
            <a:off x="8522208" y="3877056"/>
            <a:ext cx="168049" cy="16804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3" name="Shape 41"/>
          <p:cNvSpPr/>
          <p:nvPr/>
        </p:nvSpPr>
        <p:spPr>
          <a:xfrm>
            <a:off x="8997696" y="3877056"/>
            <a:ext cx="159034" cy="159034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4" name="Shape 42"/>
          <p:cNvSpPr/>
          <p:nvPr/>
        </p:nvSpPr>
        <p:spPr>
          <a:xfrm>
            <a:off x="9235440" y="3877056"/>
            <a:ext cx="153355" cy="153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5" name="Shape 43"/>
          <p:cNvSpPr/>
          <p:nvPr/>
        </p:nvSpPr>
        <p:spPr>
          <a:xfrm>
            <a:off x="9473184" y="3877056"/>
            <a:ext cx="147206" cy="1472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6" name="Shape 44"/>
          <p:cNvSpPr/>
          <p:nvPr/>
        </p:nvSpPr>
        <p:spPr>
          <a:xfrm>
            <a:off x="9710928" y="3877056"/>
            <a:ext cx="140729" cy="1407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7" name="Shape 45"/>
          <p:cNvSpPr/>
          <p:nvPr/>
        </p:nvSpPr>
        <p:spPr>
          <a:xfrm>
            <a:off x="9948672" y="3877056"/>
            <a:ext cx="134016" cy="1340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8" name="Shape 46"/>
          <p:cNvSpPr/>
          <p:nvPr/>
        </p:nvSpPr>
        <p:spPr>
          <a:xfrm>
            <a:off x="10186416" y="3877056"/>
            <a:ext cx="127133" cy="1271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49" name="Shape 47"/>
          <p:cNvSpPr/>
          <p:nvPr/>
        </p:nvSpPr>
        <p:spPr>
          <a:xfrm>
            <a:off x="10424160" y="3877056"/>
            <a:ext cx="120120" cy="12012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61904" y="3877056"/>
            <a:ext cx="113010" cy="11301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1" name="Shape 49"/>
          <p:cNvSpPr/>
          <p:nvPr/>
        </p:nvSpPr>
        <p:spPr>
          <a:xfrm>
            <a:off x="8522208" y="4114800"/>
            <a:ext cx="161101" cy="16110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2" name="Shape 50"/>
          <p:cNvSpPr/>
          <p:nvPr/>
        </p:nvSpPr>
        <p:spPr>
          <a:xfrm>
            <a:off x="8759952" y="4114800"/>
            <a:ext cx="157709" cy="1577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3" name="Shape 51"/>
          <p:cNvSpPr/>
          <p:nvPr/>
        </p:nvSpPr>
        <p:spPr>
          <a:xfrm>
            <a:off x="8997696" y="4114800"/>
            <a:ext cx="153355" cy="15335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4" name="Shape 52"/>
          <p:cNvSpPr/>
          <p:nvPr/>
        </p:nvSpPr>
        <p:spPr>
          <a:xfrm>
            <a:off x="9235440" y="4114800"/>
            <a:ext cx="148272" cy="1482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5" name="Shape 53"/>
          <p:cNvSpPr/>
          <p:nvPr/>
        </p:nvSpPr>
        <p:spPr>
          <a:xfrm>
            <a:off x="9473184" y="4114800"/>
            <a:ext cx="142646" cy="1426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6" name="Shape 54"/>
          <p:cNvSpPr/>
          <p:nvPr/>
        </p:nvSpPr>
        <p:spPr>
          <a:xfrm>
            <a:off x="9710928" y="4114800"/>
            <a:ext cx="136619" cy="13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7" name="Shape 55"/>
          <p:cNvSpPr/>
          <p:nvPr/>
        </p:nvSpPr>
        <p:spPr>
          <a:xfrm>
            <a:off x="9948672" y="4114800"/>
            <a:ext cx="130290" cy="1302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186416" y="4114800"/>
            <a:ext cx="123733" cy="123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59" name="Shape 57"/>
          <p:cNvSpPr/>
          <p:nvPr/>
        </p:nvSpPr>
        <p:spPr>
          <a:xfrm>
            <a:off x="10424160" y="4114800"/>
            <a:ext cx="117000" cy="1170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0" name="Shape 58"/>
          <p:cNvSpPr/>
          <p:nvPr/>
        </p:nvSpPr>
        <p:spPr>
          <a:xfrm>
            <a:off x="10661904" y="4114800"/>
            <a:ext cx="110130" cy="11013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1" name="Shape 59"/>
          <p:cNvSpPr/>
          <p:nvPr/>
        </p:nvSpPr>
        <p:spPr>
          <a:xfrm>
            <a:off x="8046720" y="4352544"/>
            <a:ext cx="156422" cy="15642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2" name="Shape 60"/>
          <p:cNvSpPr/>
          <p:nvPr/>
        </p:nvSpPr>
        <p:spPr>
          <a:xfrm>
            <a:off x="8284464" y="4352544"/>
            <a:ext cx="155793" cy="15579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3" name="Shape 61"/>
          <p:cNvSpPr/>
          <p:nvPr/>
        </p:nvSpPr>
        <p:spPr>
          <a:xfrm>
            <a:off x="8522208" y="4352544"/>
            <a:ext cx="153953" cy="15395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4" name="Shape 62"/>
          <p:cNvSpPr/>
          <p:nvPr/>
        </p:nvSpPr>
        <p:spPr>
          <a:xfrm>
            <a:off x="8997696" y="4352544"/>
            <a:ext cx="147206" cy="14720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5" name="Shape 63"/>
          <p:cNvSpPr/>
          <p:nvPr/>
        </p:nvSpPr>
        <p:spPr>
          <a:xfrm>
            <a:off x="9473184" y="4352544"/>
            <a:ext cx="137509" cy="13750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6" name="Shape 64"/>
          <p:cNvSpPr/>
          <p:nvPr/>
        </p:nvSpPr>
        <p:spPr>
          <a:xfrm>
            <a:off x="9948672" y="4352544"/>
            <a:ext cx="125982" cy="12598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7" name="Shape 65"/>
          <p:cNvSpPr/>
          <p:nvPr/>
        </p:nvSpPr>
        <p:spPr>
          <a:xfrm>
            <a:off x="10186416" y="4352544"/>
            <a:ext cx="119768" cy="1197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8" name="Shape 66"/>
          <p:cNvSpPr/>
          <p:nvPr/>
        </p:nvSpPr>
        <p:spPr>
          <a:xfrm>
            <a:off x="10424160" y="4352544"/>
            <a:ext cx="113335" cy="11333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69" name="Shape 67"/>
          <p:cNvSpPr/>
          <p:nvPr/>
        </p:nvSpPr>
        <p:spPr>
          <a:xfrm>
            <a:off x="8046720" y="4590288"/>
            <a:ext cx="148812" cy="14881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0" name="Shape 68"/>
          <p:cNvSpPr/>
          <p:nvPr/>
        </p:nvSpPr>
        <p:spPr>
          <a:xfrm>
            <a:off x="8284464" y="4590288"/>
            <a:ext cx="148272" cy="14827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1" name="Shape 69"/>
          <p:cNvSpPr/>
          <p:nvPr/>
        </p:nvSpPr>
        <p:spPr>
          <a:xfrm>
            <a:off x="8522208" y="4590288"/>
            <a:ext cx="146681" cy="14668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2" name="Shape 70"/>
          <p:cNvSpPr/>
          <p:nvPr/>
        </p:nvSpPr>
        <p:spPr>
          <a:xfrm>
            <a:off x="8759952" y="4590288"/>
            <a:ext cx="144126" cy="14412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3" name="Shape 71"/>
          <p:cNvSpPr/>
          <p:nvPr/>
        </p:nvSpPr>
        <p:spPr>
          <a:xfrm>
            <a:off x="8997696" y="4590288"/>
            <a:ext cx="140729" cy="1407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4" name="Shape 72"/>
          <p:cNvSpPr/>
          <p:nvPr/>
        </p:nvSpPr>
        <p:spPr>
          <a:xfrm>
            <a:off x="9235440" y="4590288"/>
            <a:ext cx="136619" cy="13661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5" name="Shape 73"/>
          <p:cNvSpPr/>
          <p:nvPr/>
        </p:nvSpPr>
        <p:spPr>
          <a:xfrm>
            <a:off x="9473184" y="4590288"/>
            <a:ext cx="131922" cy="13192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6" name="Shape 74"/>
          <p:cNvSpPr/>
          <p:nvPr/>
        </p:nvSpPr>
        <p:spPr>
          <a:xfrm>
            <a:off x="9710928" y="4590288"/>
            <a:ext cx="126747" cy="12674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7" name="Shape 75"/>
          <p:cNvSpPr/>
          <p:nvPr/>
        </p:nvSpPr>
        <p:spPr>
          <a:xfrm>
            <a:off x="9948672" y="4590288"/>
            <a:ext cx="121187" cy="12118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8" name="Shape 76"/>
          <p:cNvSpPr/>
          <p:nvPr/>
        </p:nvSpPr>
        <p:spPr>
          <a:xfrm>
            <a:off x="10186416" y="4590288"/>
            <a:ext cx="115315" cy="11531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79" name="Shape 77"/>
          <p:cNvSpPr/>
          <p:nvPr/>
        </p:nvSpPr>
        <p:spPr>
          <a:xfrm>
            <a:off x="10661904" y="4590288"/>
            <a:ext cx="102860" cy="10286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0" name="Shape 78"/>
          <p:cNvSpPr/>
          <p:nvPr/>
        </p:nvSpPr>
        <p:spPr>
          <a:xfrm>
            <a:off x="8046720" y="4828032"/>
            <a:ext cx="141202" cy="14120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1" name="Shape 79"/>
          <p:cNvSpPr/>
          <p:nvPr/>
        </p:nvSpPr>
        <p:spPr>
          <a:xfrm>
            <a:off x="8284464" y="4828032"/>
            <a:ext cx="140729" cy="1407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2" name="Shape 80"/>
          <p:cNvSpPr/>
          <p:nvPr/>
        </p:nvSpPr>
        <p:spPr>
          <a:xfrm>
            <a:off x="8522208" y="4828032"/>
            <a:ext cx="139329" cy="139329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3" name="Shape 81"/>
          <p:cNvSpPr/>
          <p:nvPr/>
        </p:nvSpPr>
        <p:spPr>
          <a:xfrm>
            <a:off x="8759952" y="4828032"/>
            <a:ext cx="137063" cy="13706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4" name="Shape 82"/>
          <p:cNvSpPr/>
          <p:nvPr/>
        </p:nvSpPr>
        <p:spPr>
          <a:xfrm>
            <a:off x="8997696" y="4828032"/>
            <a:ext cx="134016" cy="13401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5" name="Shape 83"/>
          <p:cNvSpPr/>
          <p:nvPr/>
        </p:nvSpPr>
        <p:spPr>
          <a:xfrm>
            <a:off x="9235440" y="4828032"/>
            <a:ext cx="130290" cy="13029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6" name="Shape 84"/>
          <p:cNvSpPr/>
          <p:nvPr/>
        </p:nvSpPr>
        <p:spPr>
          <a:xfrm>
            <a:off x="9710928" y="4828032"/>
            <a:ext cx="121187" cy="12118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7" name="Shape 85"/>
          <p:cNvSpPr/>
          <p:nvPr/>
        </p:nvSpPr>
        <p:spPr>
          <a:xfrm>
            <a:off x="9948672" y="4828032"/>
            <a:ext cx="115985" cy="11598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8" name="Shape 86"/>
          <p:cNvSpPr/>
          <p:nvPr/>
        </p:nvSpPr>
        <p:spPr>
          <a:xfrm>
            <a:off x="10186416" y="4828032"/>
            <a:ext cx="110446" cy="1104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89" name="Shape 87"/>
          <p:cNvSpPr/>
          <p:nvPr/>
        </p:nvSpPr>
        <p:spPr>
          <a:xfrm>
            <a:off x="10424160" y="4828032"/>
            <a:ext cx="104627" cy="104627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0" name="Shape 88"/>
          <p:cNvSpPr/>
          <p:nvPr/>
        </p:nvSpPr>
        <p:spPr>
          <a:xfrm>
            <a:off x="8284464" y="5065776"/>
            <a:ext cx="133171" cy="133171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1" name="Shape 89"/>
          <p:cNvSpPr/>
          <p:nvPr/>
        </p:nvSpPr>
        <p:spPr>
          <a:xfrm>
            <a:off x="8522208" y="5065776"/>
            <a:ext cx="131922" cy="131922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2" name="Shape 90"/>
          <p:cNvSpPr/>
          <p:nvPr/>
        </p:nvSpPr>
        <p:spPr>
          <a:xfrm>
            <a:off x="8759952" y="5065776"/>
            <a:ext cx="129888" cy="12988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3" name="Shape 91"/>
          <p:cNvSpPr/>
          <p:nvPr/>
        </p:nvSpPr>
        <p:spPr>
          <a:xfrm>
            <a:off x="8997696" y="5065776"/>
            <a:ext cx="127133" cy="1271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4" name="Shape 92"/>
          <p:cNvSpPr/>
          <p:nvPr/>
        </p:nvSpPr>
        <p:spPr>
          <a:xfrm>
            <a:off x="9235440" y="5065776"/>
            <a:ext cx="123733" cy="12373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5" name="Shape 93"/>
          <p:cNvSpPr/>
          <p:nvPr/>
        </p:nvSpPr>
        <p:spPr>
          <a:xfrm>
            <a:off x="9473184" y="5065776"/>
            <a:ext cx="119768" cy="119768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6" name="Shape 94"/>
          <p:cNvSpPr/>
          <p:nvPr/>
        </p:nvSpPr>
        <p:spPr>
          <a:xfrm>
            <a:off x="9710928" y="5065776"/>
            <a:ext cx="115315" cy="115315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7" name="Shape 95"/>
          <p:cNvSpPr/>
          <p:nvPr/>
        </p:nvSpPr>
        <p:spPr>
          <a:xfrm>
            <a:off x="9948672" y="5065776"/>
            <a:ext cx="110446" cy="110446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8" name="Shape 96"/>
          <p:cNvSpPr/>
          <p:nvPr/>
        </p:nvSpPr>
        <p:spPr>
          <a:xfrm>
            <a:off x="10186416" y="5065776"/>
            <a:ext cx="105223" cy="105223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99" name="Shape 97"/>
          <p:cNvSpPr/>
          <p:nvPr/>
        </p:nvSpPr>
        <p:spPr>
          <a:xfrm>
            <a:off x="10424160" y="5065776"/>
            <a:ext cx="99700" cy="99700"/>
          </a:xfrm>
          <a:prstGeom prst="rect">
            <a:avLst/>
          </a:prstGeom>
          <a:solidFill>
            <a:srgbClr val="3E7BFA"/>
          </a:solidFill>
          <a:ln/>
        </p:spPr>
      </p:sp>
      <p:sp>
        <p:nvSpPr>
          <p:cNvPr id="100" name="Text 98"/>
          <p:cNvSpPr/>
          <p:nvPr/>
        </p:nvSpPr>
        <p:spPr>
          <a:xfrm>
            <a:off x="548640" y="21031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Bring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Brand to Life?</a:t>
            </a:r>
            <a:endParaRPr lang="en-US" sz="3200" dirty="0"/>
          </a:p>
        </p:txBody>
      </p:sp>
      <p:sp>
        <p:nvSpPr>
          <p:cNvPr id="101" name="Text 99"/>
          <p:cNvSpPr/>
          <p:nvPr/>
        </p:nvSpPr>
        <p:spPr>
          <a:xfrm>
            <a:off x="548640" y="37033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brand guidelines are your foundation. Use them consistently to build a brand that's recognizable, trusted, and built to last.</a:t>
            </a:r>
            <a:endParaRPr lang="en-US" sz="1350" dirty="0"/>
          </a:p>
        </p:txBody>
      </p:sp>
      <p:sp>
        <p:nvSpPr>
          <p:cNvPr id="102" name="Shape 100"/>
          <p:cNvSpPr/>
          <p:nvPr/>
        </p:nvSpPr>
        <p:spPr>
          <a:xfrm>
            <a:off x="548640" y="470916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3E7BFA"/>
          </a:solidFill>
          <a:ln/>
        </p:spPr>
      </p:sp>
      <p:sp>
        <p:nvSpPr>
          <p:cNvPr id="103" name="Text 101"/>
          <p:cNvSpPr/>
          <p:nvPr/>
        </p:nvSpPr>
        <p:spPr>
          <a:xfrm>
            <a:off x="548640" y="47091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in Touch</a:t>
            </a:r>
            <a:endParaRPr lang="en-US" sz="1200" dirty="0"/>
          </a:p>
        </p:txBody>
      </p:sp>
      <p:pic>
        <p:nvPicPr>
          <p:cNvPr id="104" name="Image 0" descr="/home/claude/replicate2/assets/acero-logo-white-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943600"/>
            <a:ext cx="457200" cy="457200"/>
          </a:xfrm>
          <a:prstGeom prst="rect">
            <a:avLst/>
          </a:prstGeom>
        </p:spPr>
      </p:pic>
      <p:sp>
        <p:nvSpPr>
          <p:cNvPr id="105" name="Text 102"/>
          <p:cNvSpPr/>
          <p:nvPr/>
        </p:nvSpPr>
        <p:spPr>
          <a:xfrm>
            <a:off x="1115568" y="6035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FC7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Acero Digital Marketing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Acero Digital Marketing — Brand Guidelines 2026</dc:title>
  <dc:subject>PptxGenJS Presentation</dc:subject>
  <dc:creator>Acero Digital Marketing</dc:creator>
  <cp:lastModifiedBy>Acero Digital Marketing</cp:lastModifiedBy>
  <cp:revision>1</cp:revision>
  <dcterms:created xsi:type="dcterms:W3CDTF">2026-08-12T23:46:48Z</dcterms:created>
  <dcterms:modified xsi:type="dcterms:W3CDTF">2026-08-12T23:46:48Z</dcterms:modified>
</cp:coreProperties>
</file>